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6" r:id="rId9"/>
    <p:sldId id="271" r:id="rId10"/>
    <p:sldId id="262" r:id="rId11"/>
    <p:sldId id="263" r:id="rId12"/>
    <p:sldId id="272" r:id="rId13"/>
    <p:sldId id="274" r:id="rId14"/>
    <p:sldId id="273" r:id="rId15"/>
    <p:sldId id="275" r:id="rId16"/>
    <p:sldId id="264" r:id="rId17"/>
    <p:sldId id="265" r:id="rId18"/>
    <p:sldId id="266" r:id="rId19"/>
    <p:sldId id="268" r:id="rId20"/>
    <p:sldId id="269" r:id="rId21"/>
    <p:sldId id="26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CNTT3_Nhap-mon_MiniProject_Infrastructure/scripts/auto_report.ps1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CNTT3_Nhap-mon_MiniProject_Infrastructure/backup/bao_cao_su_co.txt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457200"/>
            <a:ext cx="2011680" cy="20116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87000" y="2103120"/>
            <a:ext cx="1143000" cy="11430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69680" y="2926080"/>
            <a:ext cx="640080" cy="6400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3749039"/>
            <a:ext cx="1554480" cy="1554480"/>
          </a:xfrm>
          <a:prstGeom prst="ellipse">
            <a:avLst/>
          </a:prstGeom>
          <a:solidFill>
            <a:srgbClr val="19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5029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27AE60"/>
                </a:solidFill>
                <a:latin typeface="Aptos"/>
              </a:rPr>
              <a:t>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7772400" cy="1645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3100" b="1" dirty="0">
                <a:solidFill>
                  <a:srgbClr val="FFFFFF"/>
                </a:solidFill>
                <a:latin typeface="Aptos"/>
              </a:rPr>
              <a:t>HỆ THỐNG QUẢN TRỊ
HẠ TẦNG &amp; NHẬT KÝ KỸ THUẬT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46120"/>
            <a:ext cx="32004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300" b="1">
                <a:solidFill>
                  <a:srgbClr val="BFEBD2"/>
                </a:solidFill>
                <a:latin typeface="Aptos"/>
              </a:rPr>
              <a:t>GREENTECH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858768"/>
            <a:ext cx="7132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0" dirty="0" err="1">
                <a:solidFill>
                  <a:srgbClr val="DDE6EB"/>
                </a:solidFill>
                <a:latin typeface="Aptos"/>
              </a:rPr>
              <a:t>Tổ</a:t>
            </a:r>
            <a:r>
              <a:rPr sz="1600" b="0" dirty="0">
                <a:solidFill>
                  <a:srgbClr val="DDE6E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DDE6EB"/>
                </a:solidFill>
                <a:latin typeface="Aptos"/>
              </a:rPr>
              <a:t>chức</a:t>
            </a:r>
            <a:r>
              <a:rPr sz="1600" b="0" dirty="0">
                <a:solidFill>
                  <a:srgbClr val="DDE6E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DDE6EB"/>
                </a:solidFill>
                <a:latin typeface="Aptos"/>
              </a:rPr>
              <a:t>dữ</a:t>
            </a:r>
            <a:r>
              <a:rPr sz="1600" b="0" dirty="0">
                <a:solidFill>
                  <a:srgbClr val="DDE6E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DDE6EB"/>
                </a:solidFill>
                <a:latin typeface="Aptos"/>
              </a:rPr>
              <a:t>liệu</a:t>
            </a:r>
            <a:r>
              <a:rPr sz="1600" b="0" dirty="0">
                <a:solidFill>
                  <a:srgbClr val="DDE6EB"/>
                </a:solidFill>
                <a:latin typeface="Aptos"/>
              </a:rPr>
              <a:t> • </a:t>
            </a:r>
            <a:r>
              <a:rPr sz="1600" b="0" dirty="0" err="1">
                <a:solidFill>
                  <a:srgbClr val="DDE6EB"/>
                </a:solidFill>
                <a:latin typeface="Aptos"/>
              </a:rPr>
              <a:t>Tự</a:t>
            </a:r>
            <a:r>
              <a:rPr sz="1600" b="0" dirty="0">
                <a:solidFill>
                  <a:srgbClr val="DDE6E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DDE6EB"/>
                </a:solidFill>
                <a:latin typeface="Aptos"/>
              </a:rPr>
              <a:t>động</a:t>
            </a:r>
            <a:r>
              <a:rPr sz="1600" b="0" dirty="0">
                <a:solidFill>
                  <a:srgbClr val="DDE6E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DDE6EB"/>
                </a:solidFill>
                <a:latin typeface="Aptos"/>
              </a:rPr>
              <a:t>hóa</a:t>
            </a:r>
            <a:r>
              <a:rPr sz="1600" b="0" dirty="0">
                <a:solidFill>
                  <a:srgbClr val="DDE6EB"/>
                </a:solidFill>
                <a:latin typeface="Aptos"/>
              </a:rPr>
              <a:t> Log • Quản </a:t>
            </a:r>
            <a:r>
              <a:rPr sz="1600" b="0" dirty="0" err="1">
                <a:solidFill>
                  <a:srgbClr val="DDE6EB"/>
                </a:solidFill>
                <a:latin typeface="Aptos"/>
              </a:rPr>
              <a:t>lý</a:t>
            </a:r>
            <a:r>
              <a:rPr sz="1600" b="0" dirty="0">
                <a:solidFill>
                  <a:srgbClr val="DDE6E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DDE6EB"/>
                </a:solidFill>
                <a:latin typeface="Aptos"/>
              </a:rPr>
              <a:t>tài</a:t>
            </a:r>
            <a:r>
              <a:rPr sz="1600" b="0" dirty="0">
                <a:solidFill>
                  <a:srgbClr val="DDE6E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DDE6EB"/>
                </a:solidFill>
                <a:latin typeface="Aptos"/>
              </a:rPr>
              <a:t>sản</a:t>
            </a:r>
            <a:r>
              <a:rPr sz="1600" b="0" dirty="0">
                <a:solidFill>
                  <a:srgbClr val="DDE6EB"/>
                </a:solidFill>
                <a:latin typeface="Aptos"/>
              </a:rPr>
              <a:t> IoT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5029200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US" sz="1200" b="0" dirty="0" err="1">
                <a:solidFill>
                  <a:srgbClr val="BECDD6"/>
                </a:solidFill>
                <a:latin typeface="Aptos"/>
              </a:rPr>
              <a:t>Nhóm</a:t>
            </a:r>
            <a:r>
              <a:rPr sz="1200" b="0" dirty="0">
                <a:solidFill>
                  <a:srgbClr val="BECDD6"/>
                </a:solidFill>
                <a:latin typeface="Aptos"/>
              </a:rPr>
              <a:t>: </a:t>
            </a:r>
            <a:r>
              <a:rPr lang="en-US" sz="1200" b="0" dirty="0">
                <a:solidFill>
                  <a:srgbClr val="BECDD6"/>
                </a:solidFill>
                <a:latin typeface="Aptos"/>
              </a:rPr>
              <a:t>2</a:t>
            </a:r>
            <a:r>
              <a:rPr sz="1200" b="0" dirty="0">
                <a:solidFill>
                  <a:srgbClr val="BECDD6"/>
                </a:solidFill>
                <a:latin typeface="Aptos"/>
              </a:rPr>
              <a:t>
</a:t>
            </a:r>
            <a:r>
              <a:rPr sz="1200" b="0" dirty="0" err="1">
                <a:solidFill>
                  <a:srgbClr val="BECDD6"/>
                </a:solidFill>
                <a:latin typeface="Aptos"/>
              </a:rPr>
              <a:t>Lớp</a:t>
            </a:r>
            <a:r>
              <a:rPr sz="1200" b="0" dirty="0">
                <a:solidFill>
                  <a:srgbClr val="BECDD6"/>
                </a:solidFill>
                <a:latin typeface="Aptos"/>
              </a:rPr>
              <a:t>: </a:t>
            </a:r>
            <a:r>
              <a:rPr lang="en-US" sz="1200" b="0" dirty="0">
                <a:solidFill>
                  <a:srgbClr val="BECDD6"/>
                </a:solidFill>
                <a:latin typeface="Aptos"/>
              </a:rPr>
              <a:t>CNTT3</a:t>
            </a:r>
            <a:r>
              <a:rPr sz="1200" b="0" dirty="0">
                <a:solidFill>
                  <a:srgbClr val="BECDD6"/>
                </a:solidFill>
                <a:latin typeface="Aptos"/>
              </a:rPr>
              <a:t>
Môn </a:t>
            </a:r>
            <a:r>
              <a:rPr sz="1200" b="0" dirty="0" err="1">
                <a:solidFill>
                  <a:srgbClr val="BECDD6"/>
                </a:solidFill>
                <a:latin typeface="Aptos"/>
              </a:rPr>
              <a:t>học</a:t>
            </a:r>
            <a:r>
              <a:rPr sz="1200" b="0" dirty="0">
                <a:solidFill>
                  <a:srgbClr val="BECDD6"/>
                </a:solidFill>
                <a:latin typeface="Aptos"/>
              </a:rPr>
              <a:t>: </a:t>
            </a:r>
            <a:r>
              <a:rPr lang="en-US" sz="1200" b="0" dirty="0">
                <a:solidFill>
                  <a:srgbClr val="BECDD6"/>
                </a:solidFill>
                <a:latin typeface="Aptos"/>
              </a:rPr>
              <a:t>Nhập </a:t>
            </a:r>
            <a:r>
              <a:rPr lang="en-US" sz="1200" b="0" dirty="0" err="1">
                <a:solidFill>
                  <a:srgbClr val="BECDD6"/>
                </a:solidFill>
                <a:latin typeface="Aptos"/>
              </a:rPr>
              <a:t>môn</a:t>
            </a:r>
            <a:r>
              <a:rPr lang="en-US" sz="1200" b="0" dirty="0">
                <a:solidFill>
                  <a:srgbClr val="BECDD6"/>
                </a:solidFill>
                <a:latin typeface="Aptos"/>
              </a:rPr>
              <a:t> CNTT</a:t>
            </a:r>
            <a:endParaRPr sz="1200" b="0" dirty="0">
              <a:solidFill>
                <a:srgbClr val="BECDD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98480" y="6035040"/>
            <a:ext cx="731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700" b="1">
                <a:solidFill>
                  <a:srgbClr val="12273A"/>
                </a:solidFill>
                <a:latin typeface="Aptos"/>
              </a:rPr>
              <a:t>1. Bối cảnh &amp; bài toán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000" b="1">
                <a:solidFill>
                  <a:srgbClr val="2F3E46"/>
                </a:solidFill>
                <a:latin typeface="Aptos"/>
              </a:rPr>
              <a:t>GreenTech vận hành hạ tầng máy chủ và 100 trạm cảm biến IoT ngoài trang trại.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73152" cy="2057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176272"/>
            <a:ext cx="31089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2273A"/>
                </a:solidFill>
                <a:latin typeface="Aptos"/>
              </a:rPr>
              <a:t>Dữ liệu phân tán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06040"/>
            <a:ext cx="310896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2F3E46"/>
                </a:solidFill>
                <a:latin typeface="Aptos"/>
              </a:rPr>
              <a:t>Tệp cấu hình, tài liệu, dữ liệu thiết bị và bản sao báo cáo cần được tổ chức thống nhất.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2011680"/>
            <a:ext cx="73152" cy="2057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176272"/>
            <a:ext cx="31089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2273A"/>
                </a:solidFill>
                <a:latin typeface="Aptos"/>
              </a:rPr>
              <a:t>Log dung lượng lớn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06040"/>
            <a:ext cx="310896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2F3E46"/>
                </a:solidFill>
                <a:latin typeface="Aptos"/>
              </a:rPr>
              <a:t>Nhật ký có thể đạt 500 MB hoặc hàng triệu dòng mỗi ngày; cần lọc tuần tự, không nạp toàn bộ vào RAM.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73152" cy="2057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2176272"/>
            <a:ext cx="31089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2273A"/>
                </a:solidFill>
                <a:latin typeface="Aptos"/>
              </a:rPr>
              <a:t>Đối soát thiết bị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606040"/>
            <a:ext cx="310896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2F3E46"/>
                </a:solidFill>
                <a:latin typeface="Aptos"/>
              </a:rPr>
              <a:t>Mã linh kiện phải liên kết chính xác với trạm cảm biến để tra cứu tên thiết bị và thông số.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00600"/>
            <a:ext cx="1042416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100" b="1">
                <a:solidFill>
                  <a:srgbClr val="12273A"/>
                </a:solidFill>
                <a:latin typeface="Aptos"/>
              </a:rPr>
              <a:t>Mục tiêu: tạo quy trình có thể lặp lại, kiểm tra được và dễ bàn giao.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800" b="0">
                <a:solidFill>
                  <a:srgbClr val="66757E"/>
                </a:solidFill>
                <a:latin typeface="Aptos"/>
              </a:rPr>
              <a:t>GREENTECH  |  MINI PROJECT HẠ TẦNG &amp; NHẬT KÝ KỸ THUẬT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700" b="1">
                <a:solidFill>
                  <a:srgbClr val="12273A"/>
                </a:solidFill>
                <a:latin typeface="Aptos"/>
              </a:rPr>
              <a:t>2. Thiết kế hệ thống theo IPO &amp; DIKW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PHÂN TÍCH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71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2273A"/>
                </a:solidFill>
                <a:latin typeface="Aptos"/>
              </a:rPr>
              <a:t>INPUT — Đầu vào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2971800" cy="7772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2F3E46"/>
                </a:solidFill>
                <a:latin typeface="Aptos"/>
              </a:rPr>
              <a:t>Log máy chủ • Danh mục linh kiện
Dữ liệu 100 trạm IoT • Cấu hình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508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71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2273A"/>
                </a:solidFill>
                <a:latin typeface="Aptos"/>
              </a:rPr>
              <a:t>PROCESS — Xử lý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11680"/>
            <a:ext cx="2971800" cy="7772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2F3E46"/>
                </a:solidFill>
                <a:latin typeface="Aptos"/>
              </a:rPr>
              <a:t>Lọc CRITICAL/ERROR • Làm sạch mã
Tra cứu VLOOKUP • Kiểm tra dữ liệu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73152" cy="1508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71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2273A"/>
                </a:solidFill>
                <a:latin typeface="Aptos"/>
              </a:rPr>
              <a:t>OUTPUT — Đầu 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011680"/>
            <a:ext cx="2971800" cy="7772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2F3E46"/>
                </a:solidFill>
                <a:latin typeface="Aptos"/>
              </a:rPr>
              <a:t>Báo cáo sự cố • Asset Database
Tài liệu vận hành • Bản sao lưu</a:t>
            </a:r>
          </a:p>
        </p:txBody>
      </p:sp>
      <p:sp>
        <p:nvSpPr>
          <p:cNvPr id="17" name="Chevron 16"/>
          <p:cNvSpPr/>
          <p:nvPr/>
        </p:nvSpPr>
        <p:spPr>
          <a:xfrm>
            <a:off x="4069080" y="1901952"/>
            <a:ext cx="256032" cy="502920"/>
          </a:xfrm>
          <a:prstGeom prst="chevron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hevron 17"/>
          <p:cNvSpPr/>
          <p:nvPr/>
        </p:nvSpPr>
        <p:spPr>
          <a:xfrm>
            <a:off x="7818120" y="1901952"/>
            <a:ext cx="256032" cy="502920"/>
          </a:xfrm>
          <a:prstGeom prst="chevron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106984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800" b="1">
                <a:solidFill>
                  <a:srgbClr val="12273A"/>
                </a:solidFill>
                <a:latin typeface="Aptos"/>
              </a:rPr>
              <a:t>DIKW: chuyển dữ liệu thô thành tri thức phục vụ quyết định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77639"/>
            <a:ext cx="2514600" cy="1325880"/>
          </a:xfrm>
          <a:prstGeom prst="roundRect">
            <a:avLst/>
          </a:prstGeom>
          <a:solidFill>
            <a:srgbClr val="E0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160520"/>
            <a:ext cx="502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600" b="1">
                <a:solidFill>
                  <a:srgbClr val="12273A"/>
                </a:solidFill>
                <a:latin typeface="Aptos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4133087"/>
            <a:ext cx="1645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480560"/>
            <a:ext cx="164592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100" b="0">
                <a:solidFill>
                  <a:srgbClr val="2F3E46"/>
                </a:solidFill>
                <a:latin typeface="Aptos"/>
              </a:rPr>
              <a:t>Dòng log, mã linh kiện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3977639"/>
            <a:ext cx="2514600" cy="1325880"/>
          </a:xfrm>
          <a:prstGeom prst="roundRect">
            <a:avLst/>
          </a:prstGeom>
          <a:solidFill>
            <a:srgbClr val="D3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03320" y="4160520"/>
            <a:ext cx="502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600" b="1">
                <a:solidFill>
                  <a:srgbClr val="12273A"/>
                </a:solidFill>
                <a:latin typeface="Aptos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4133087"/>
            <a:ext cx="1645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Information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4480560"/>
            <a:ext cx="164592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100" b="0">
                <a:solidFill>
                  <a:srgbClr val="2F3E46"/>
                </a:solidFill>
                <a:latin typeface="Aptos"/>
              </a:rPr>
              <a:t>Log đã lọc, bảng đã nối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977639"/>
            <a:ext cx="2514600" cy="1325880"/>
          </a:xfrm>
          <a:prstGeom prst="roundRect">
            <a:avLst/>
          </a:prstGeom>
          <a:solidFill>
            <a:srgbClr val="FFE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4160520"/>
            <a:ext cx="502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600" b="1">
                <a:solidFill>
                  <a:srgbClr val="12273A"/>
                </a:solidFill>
                <a:latin typeface="Aptos"/>
              </a:rPr>
              <a:t>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4133087"/>
            <a:ext cx="1645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4480560"/>
            <a:ext cx="164592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100" b="0">
                <a:solidFill>
                  <a:srgbClr val="2F3E46"/>
                </a:solidFill>
                <a:latin typeface="Aptos"/>
              </a:rPr>
              <a:t>Nhận biết lỗi lặp lại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977639"/>
            <a:ext cx="2514600" cy="1325880"/>
          </a:xfrm>
          <a:prstGeom prst="roundRect">
            <a:avLst/>
          </a:prstGeom>
          <a:solidFill>
            <a:srgbClr val="F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72600" y="4160520"/>
            <a:ext cx="502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600" b="1">
                <a:solidFill>
                  <a:srgbClr val="12273A"/>
                </a:solidFill>
                <a:latin typeface="Aptos"/>
              </a:rPr>
              <a:t>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4133087"/>
            <a:ext cx="1645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Wisdom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4480560"/>
            <a:ext cx="164592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100" b="0">
                <a:solidFill>
                  <a:srgbClr val="2F3E46"/>
                </a:solidFill>
                <a:latin typeface="Aptos"/>
              </a:rPr>
              <a:t>Ưu tiên xử lý, nâng cấp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800" b="0">
                <a:solidFill>
                  <a:srgbClr val="66757E"/>
                </a:solidFill>
                <a:latin typeface="Aptos"/>
              </a:rPr>
              <a:t>GREENTECH  |  MINI PROJECT HẠ TẦNG &amp; NHẬT KÝ KỸ THUẬT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700" b="1">
                <a:solidFill>
                  <a:srgbClr val="12273A"/>
                </a:solidFill>
                <a:latin typeface="Aptos"/>
              </a:rPr>
              <a:t>3. Cây thư mục &amp; nguyên tắc lưu trữ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KIẾN TRÚC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669280" cy="434340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35607"/>
            <a:ext cx="5340096" cy="4123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FEBD2"/>
                </a:solidFill>
                <a:latin typeface="Consolas"/>
              </a:defRPr>
            </a:pPr>
            <a:r>
              <a:t>greentech-system/</a:t>
            </a:r>
          </a:p>
          <a:p>
            <a:pPr>
              <a:spcAft>
                <a:spcPts val="300"/>
              </a:spcAft>
              <a:defRPr sz="1500">
                <a:solidFill>
                  <a:srgbClr val="BFEBD2"/>
                </a:solidFill>
                <a:latin typeface="Consolas"/>
              </a:defRPr>
            </a:pPr>
            <a:r>
              <a:t>├── docs/</a:t>
            </a:r>
          </a:p>
          <a:p>
            <a:pPr>
              <a:spcAft>
                <a:spcPts val="300"/>
              </a:spcAft>
              <a:defRPr sz="1500">
                <a:solidFill>
                  <a:srgbClr val="BFEBD2"/>
                </a:solidFill>
                <a:latin typeface="Consolas"/>
              </a:defRPr>
            </a:pPr>
            <a:r>
              <a:t>│   ├── README.md</a:t>
            </a:r>
          </a:p>
          <a:p>
            <a:pPr>
              <a:spcAft>
                <a:spcPts val="300"/>
              </a:spcAft>
              <a:defRPr sz="1500">
                <a:solidFill>
                  <a:srgbClr val="BFEBD2"/>
                </a:solidFill>
                <a:latin typeface="Consolas"/>
              </a:defRPr>
            </a:pPr>
            <a:r>
              <a:t>│   └── srs-he-thong.docx</a:t>
            </a:r>
          </a:p>
          <a:p>
            <a:pPr>
              <a:spcAft>
                <a:spcPts val="300"/>
              </a:spcAft>
              <a:defRPr sz="1500">
                <a:solidFill>
                  <a:srgbClr val="BFEBD2"/>
                </a:solidFill>
                <a:latin typeface="Consolas"/>
              </a:defRPr>
            </a:pPr>
            <a:r>
              <a:t>├── scripts/</a:t>
            </a:r>
          </a:p>
          <a:p>
            <a:pPr>
              <a:spcAft>
                <a:spcPts val="300"/>
              </a:spcAft>
              <a:defRPr sz="1500">
                <a:solidFill>
                  <a:srgbClr val="BFEBD2"/>
                </a:solidFill>
                <a:latin typeface="Consolas"/>
              </a:defRPr>
            </a:pPr>
            <a:r>
              <a:t>│   └── auto_report.bat</a:t>
            </a:r>
          </a:p>
          <a:p>
            <a:pPr>
              <a:spcAft>
                <a:spcPts val="300"/>
              </a:spcAft>
              <a:defRPr sz="1500">
                <a:solidFill>
                  <a:srgbClr val="BFEBD2"/>
                </a:solidFill>
                <a:latin typeface="Consolas"/>
              </a:defRPr>
            </a:pPr>
            <a:r>
              <a:t>├── data/</a:t>
            </a:r>
          </a:p>
          <a:p>
            <a:pPr>
              <a:spcAft>
                <a:spcPts val="300"/>
              </a:spcAft>
              <a:defRPr sz="1500">
                <a:solidFill>
                  <a:srgbClr val="BFEBD2"/>
                </a:solidFill>
                <a:latin typeface="Consolas"/>
              </a:defRPr>
            </a:pPr>
            <a:r>
              <a:t>│   ├── log-he-thong.log</a:t>
            </a:r>
          </a:p>
          <a:p>
            <a:pPr>
              <a:spcAft>
                <a:spcPts val="300"/>
              </a:spcAft>
              <a:defRPr sz="1500">
                <a:solidFill>
                  <a:srgbClr val="BFEBD2"/>
                </a:solidFill>
                <a:latin typeface="Consolas"/>
              </a:defRPr>
            </a:pPr>
            <a:r>
              <a:t>│   └── quan-ly-thiet-bi.xlsx</a:t>
            </a:r>
          </a:p>
          <a:p>
            <a:pPr>
              <a:spcAft>
                <a:spcPts val="300"/>
              </a:spcAft>
              <a:defRPr sz="1500">
                <a:solidFill>
                  <a:srgbClr val="BFEBD2"/>
                </a:solidFill>
                <a:latin typeface="Consolas"/>
              </a:defRPr>
            </a:pPr>
            <a:r>
              <a:t>├── backup/</a:t>
            </a:r>
          </a:p>
          <a:p>
            <a:pPr>
              <a:spcAft>
                <a:spcPts val="300"/>
              </a:spcAft>
              <a:defRPr sz="1500">
                <a:solidFill>
                  <a:srgbClr val="BFEBD2"/>
                </a:solidFill>
                <a:latin typeface="Consolas"/>
              </a:defRPr>
            </a:pPr>
            <a:r>
              <a:t>│   └── bao-cao-su-co.txt</a:t>
            </a:r>
          </a:p>
          <a:p>
            <a:pPr>
              <a:spcAft>
                <a:spcPts val="300"/>
              </a:spcAft>
              <a:defRPr sz="1500">
                <a:solidFill>
                  <a:srgbClr val="BFEBD2"/>
                </a:solidFill>
                <a:latin typeface="Consolas"/>
              </a:defRPr>
            </a:pPr>
            <a:r>
              <a:t>└── .env  (cấu hình cục bộ, không commit)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417320"/>
            <a:ext cx="4526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12280" y="1417320"/>
            <a:ext cx="73152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13448" y="1581912"/>
            <a:ext cx="4160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docs/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2011680"/>
            <a:ext cx="4160520" cy="320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2F3E46"/>
                </a:solidFill>
                <a:latin typeface="Aptos"/>
              </a:rPr>
              <a:t>Tài liệu hướng dẫn và đặc tả hệ thống.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697480"/>
            <a:ext cx="4526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12280" y="2697480"/>
            <a:ext cx="73152" cy="10515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3448" y="2862072"/>
            <a:ext cx="4160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scripts/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3291840"/>
            <a:ext cx="4160520" cy="320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2F3E46"/>
                </a:solidFill>
                <a:latin typeface="Aptos"/>
              </a:rPr>
              <a:t>Mã tự động hóa, có thể kiểm tra và chạy lại.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3977639"/>
            <a:ext cx="4526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12280" y="3977639"/>
            <a:ext cx="73152" cy="10515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13448" y="4142231"/>
            <a:ext cx="4160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data/ &amp; backup/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4572000"/>
            <a:ext cx="4160520" cy="3200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2F3E46"/>
                </a:solidFill>
                <a:latin typeface="Aptos"/>
              </a:rPr>
              <a:t>Tách dữ liệu nguồn khỏi kết quả báo cáo.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349240"/>
            <a:ext cx="44805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Aptos"/>
              </a:rPr>
              <a:t>Quy ước: kebab-case cho tên thư mục/tệp; không dấu, không khoảng trắng.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800" b="0">
                <a:solidFill>
                  <a:srgbClr val="66757E"/>
                </a:solidFill>
                <a:latin typeface="Aptos"/>
              </a:rPr>
              <a:t>GREENTECH  |  MINI PROJECT HẠ TẦNG &amp; NHẬT KÝ KỸ THUẬT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700" b="1">
                <a:solidFill>
                  <a:srgbClr val="12273A"/>
                </a:solidFill>
                <a:latin typeface="Aptos"/>
              </a:rPr>
              <a:t>4. Module Terminal: khởi tạo &amp; cấu hình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0">
                <a:solidFill>
                  <a:srgbClr val="2F3E46"/>
                </a:solidFill>
                <a:latin typeface="Aptos"/>
              </a:rPr>
              <a:t>Tạo toàn bộ cây thư mục bằng một lệnh PowerShell từ vị trí làm việc phù hợp: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44200" cy="100584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92807"/>
            <a:ext cx="10415016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mkdir</a:t>
            </a:r>
            <a:r>
              <a:rPr lang="en-US" dirty="0">
                <a:solidFill>
                  <a:schemeClr val="bg1"/>
                </a:solidFill>
              </a:rPr>
              <a:t> green-tech</a:t>
            </a:r>
          </a:p>
          <a:p>
            <a:r>
              <a:rPr lang="en-US" dirty="0">
                <a:solidFill>
                  <a:schemeClr val="bg1"/>
                </a:solidFill>
              </a:rPr>
              <a:t>cd .\green-tech\</a:t>
            </a:r>
          </a:p>
          <a:p>
            <a:r>
              <a:rPr lang="en-US" dirty="0" err="1">
                <a:solidFill>
                  <a:schemeClr val="bg1"/>
                </a:solidFill>
              </a:rPr>
              <a:t>mkdir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data,sprict,docs</a:t>
            </a:r>
            <a:endParaRPr lang="en-US" dirty="0">
              <a:solidFill>
                <a:schemeClr val="bg1"/>
              </a:solidFill>
            </a:endParaRPr>
          </a:p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0">
                <a:solidFill>
                  <a:srgbClr val="2F3E46"/>
                </a:solidFill>
                <a:latin typeface="Aptos"/>
              </a:rPr>
              <a:t>Tạo file cấu hình cục bộ (dữ liệu giả định, không dùng mật khẩu thật):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6400800" cy="155448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3675887"/>
            <a:ext cx="6071616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Set-Location .\</a:t>
            </a:r>
            <a:r>
              <a:rPr dirty="0" err="1"/>
              <a:t>greentech</a:t>
            </a:r>
            <a:r>
              <a:rPr dirty="0"/>
              <a:t>-system</a:t>
            </a:r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New-Item -ItemType File -Force .env</a:t>
            </a:r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Add-Content .env "APP_ENV=development"</a:t>
            </a:r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Add-Content .env "API_KEY=</a:t>
            </a:r>
            <a:r>
              <a:rPr dirty="0" err="1"/>
              <a:t>replace_with_dummy_value</a:t>
            </a:r>
            <a:r>
              <a:rPr dirty="0"/>
              <a:t>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566160"/>
            <a:ext cx="3977639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3566160"/>
            <a:ext cx="73152" cy="1554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9248" y="3730752"/>
            <a:ext cx="36118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Kiểm tra an toàn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160520"/>
            <a:ext cx="3611879" cy="82295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2F3E46"/>
                </a:solidFill>
                <a:latin typeface="Aptos"/>
              </a:rPr>
              <a:t>• Xem đường dẫn hiện tại: Get-Location
• Liệt kê: Get-ChildItem -Force
• Không đưa .env lên GitHub
• Không dùng lệnh xóa diện rộng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800" b="0">
                <a:solidFill>
                  <a:srgbClr val="66757E"/>
                </a:solidFill>
                <a:latin typeface="Aptos"/>
              </a:rPr>
              <a:t>GREENTECH  |  MINI PROJECT HẠ TẦNG &amp; NHẬT KÝ KỸ THUẬT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700" b="1">
                <a:solidFill>
                  <a:srgbClr val="12273A"/>
                </a:solidFill>
                <a:latin typeface="Aptos"/>
              </a:rPr>
              <a:t>5. Module Robot lọc 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2273A"/>
                </a:solidFill>
                <a:latin typeface="Aptos"/>
              </a:rPr>
              <a:t>Luồng xử lý: đọc tuần tự → lọc dòng cần chú ý → nối vào báo cáo.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7315200" cy="411480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92807"/>
            <a:ext cx="6986016" cy="3895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@echo off</a:t>
            </a:r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set "LOG=data\log-he-thong.log"</a:t>
            </a:r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set "REPORT=backup\bao-cao-su-co.txt"</a:t>
            </a:r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endParaRPr dirty="0"/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if not exist "%LOG%" (</a:t>
            </a:r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  echo [ERROR] Khong </a:t>
            </a:r>
            <a:r>
              <a:rPr dirty="0" err="1"/>
              <a:t>tim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file log: %LOG%</a:t>
            </a:r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  exit /b 1</a:t>
            </a:r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)</a:t>
            </a:r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endParaRPr dirty="0"/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echo ==== GREENTECH INCIDENT REPORT ====&gt;&gt; "%REPORT%"</a:t>
            </a:r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echo Thoi diem </a:t>
            </a:r>
            <a:r>
              <a:rPr dirty="0" err="1"/>
              <a:t>tao</a:t>
            </a:r>
            <a:r>
              <a:rPr dirty="0"/>
              <a:t>: %date% %time%&gt;&gt; "%REPORT%"</a:t>
            </a:r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 err="1"/>
              <a:t>findstr</a:t>
            </a:r>
            <a:r>
              <a:rPr dirty="0"/>
              <a:t> /I /C:"CRITICAL" /C:"ERROR" "%LOG%" &gt;&gt; "%REPORT%"</a:t>
            </a:r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echo.&gt;&gt; "%REPORT%"</a:t>
            </a:r>
          </a:p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rPr dirty="0"/>
              <a:t>echo Da </a:t>
            </a:r>
            <a:r>
              <a:rPr dirty="0" err="1"/>
              <a:t>noi</a:t>
            </a:r>
            <a:r>
              <a:rPr dirty="0"/>
              <a:t> ket qua </a:t>
            </a:r>
            <a:r>
              <a:rPr dirty="0" err="1"/>
              <a:t>vao</a:t>
            </a:r>
            <a:r>
              <a:rPr dirty="0"/>
              <a:t> %REPORT%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874519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66760" y="1874519"/>
            <a:ext cx="73152" cy="1143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67928" y="2039112"/>
            <a:ext cx="2606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Pipe 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2468879"/>
            <a:ext cx="2606040" cy="4114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100" b="0">
                <a:solidFill>
                  <a:srgbClr val="2F3E46"/>
                </a:solidFill>
                <a:latin typeface="Aptos"/>
              </a:rPr>
              <a:t>Kết nối đầu ra của lệnh này với đầu vào lệnh khác.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2461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66760" y="3246120"/>
            <a:ext cx="73152" cy="1143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67928" y="3410712"/>
            <a:ext cx="2606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findstr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3840480"/>
            <a:ext cx="2606040" cy="4114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100" b="0">
                <a:solidFill>
                  <a:srgbClr val="2F3E46"/>
                </a:solidFill>
                <a:latin typeface="Aptos"/>
              </a:rPr>
              <a:t>Lọc trực tiếp từng dòng, phù hợp log lớn.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6177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4617720"/>
            <a:ext cx="73152" cy="1143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67928" y="4782312"/>
            <a:ext cx="2606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&gt;&gt;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5212080"/>
            <a:ext cx="2606040" cy="4114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100" b="0">
                <a:solidFill>
                  <a:srgbClr val="2F3E46"/>
                </a:solidFill>
                <a:latin typeface="Aptos"/>
              </a:rPr>
              <a:t>Nối thêm vào cuối báo cáo, không ghi đè nội dung cũ.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106984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000" b="0">
                <a:solidFill>
                  <a:srgbClr val="66757E"/>
                </a:solidFill>
                <a:latin typeface="Aptos"/>
              </a:rPr>
              <a:t>Lưu ý: script trên dùng findstr trực tiếp; nếu yêu cầu bắt buộc Pipe, có thể dùng type "%LOG%" | findstr ... nhưng không cần thiết và thường không nhanh hơn.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800" b="0">
                <a:solidFill>
                  <a:srgbClr val="66757E"/>
                </a:solidFill>
                <a:latin typeface="Aptos"/>
              </a:rPr>
              <a:t>GREENTECH  |  MINI PROJECT HẠ TẦNG &amp; NHẬT KÝ KỸ THUẬT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ố 1 (nền)">
            <a:extLst>
              <a:ext uri="{FF2B5EF4-FFF2-40B4-BE49-F238E27FC236}">
                <a16:creationId xmlns:a16="http://schemas.microsoft.com/office/drawing/2014/main" id="{AA171702-EE5C-9EDA-3D2E-F7837E8A6501}"/>
              </a:ext>
            </a:extLst>
          </p:cNvPr>
          <p:cNvSpPr/>
          <p:nvPr/>
        </p:nvSpPr>
        <p:spPr>
          <a:xfrm>
            <a:off x="547052" y="656590"/>
            <a:ext cx="548640" cy="548640"/>
          </a:xfrm>
          <a:prstGeom prst="ellipse">
            <a:avLst/>
          </a:prstGeom>
          <a:solidFill>
            <a:schemeClr val="accent5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ố 1">
            <a:extLst>
              <a:ext uri="{FF2B5EF4-FFF2-40B4-BE49-F238E27FC236}">
                <a16:creationId xmlns:a16="http://schemas.microsoft.com/office/drawing/2014/main" id="{C8458910-0268-399B-AB18-85456D0E1498}"/>
              </a:ext>
            </a:extLst>
          </p:cNvPr>
          <p:cNvSpPr txBox="1"/>
          <p:nvPr/>
        </p:nvSpPr>
        <p:spPr>
          <a:xfrm>
            <a:off x="547052" y="65659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Code dòng 1 (khung)">
            <a:extLst>
              <a:ext uri="{FF2B5EF4-FFF2-40B4-BE49-F238E27FC236}">
                <a16:creationId xmlns:a16="http://schemas.microsoft.com/office/drawing/2014/main" id="{A908B0D4-5F25-13AB-3A57-7114E67BA983}"/>
              </a:ext>
            </a:extLst>
          </p:cNvPr>
          <p:cNvSpPr/>
          <p:nvPr/>
        </p:nvSpPr>
        <p:spPr>
          <a:xfrm>
            <a:off x="1370012" y="578485"/>
            <a:ext cx="4937760" cy="705485"/>
          </a:xfrm>
          <a:prstGeom prst="roundRect">
            <a:avLst>
              <a:gd name="adj" fmla="val 6667"/>
            </a:avLst>
          </a:prstGeom>
          <a:solidFill>
            <a:schemeClr val="tx1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Code dòng 1">
            <a:extLst>
              <a:ext uri="{FF2B5EF4-FFF2-40B4-BE49-F238E27FC236}">
                <a16:creationId xmlns:a16="http://schemas.microsoft.com/office/drawing/2014/main" id="{5AA2791F-ED42-4FC3-1CD2-0AB5678C04A4}"/>
              </a:ext>
            </a:extLst>
          </p:cNvPr>
          <p:cNvSpPr txBox="1"/>
          <p:nvPr/>
        </p:nvSpPr>
        <p:spPr>
          <a:xfrm>
            <a:off x="1598612" y="578485"/>
            <a:ext cx="4572000" cy="7054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@echo off</a:t>
            </a:r>
            <a:endParaRPr lang="en-US" dirty="0"/>
          </a:p>
        </p:txBody>
      </p:sp>
      <p:pic>
        <p:nvPicPr>
          <p:cNvPr id="6" name="Mũi tên 1" descr="dẫn tới">
            <a:extLst>
              <a:ext uri="{FF2B5EF4-FFF2-40B4-BE49-F238E27FC236}">
                <a16:creationId xmlns:a16="http://schemas.microsoft.com/office/drawing/2014/main" id="{8F1D8B4C-552B-912A-B41F-5CC11767E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932" y="1099693"/>
            <a:ext cx="329184" cy="329184"/>
          </a:xfrm>
          <a:prstGeom prst="rect">
            <a:avLst/>
          </a:prstGeom>
        </p:spPr>
      </p:pic>
      <p:sp>
        <p:nvSpPr>
          <p:cNvPr id="7" name="Giải thích dòng 1">
            <a:extLst>
              <a:ext uri="{FF2B5EF4-FFF2-40B4-BE49-F238E27FC236}">
                <a16:creationId xmlns:a16="http://schemas.microsoft.com/office/drawing/2014/main" id="{AA213AA1-26CB-51D0-B38B-8311E2916495}"/>
              </a:ext>
            </a:extLst>
          </p:cNvPr>
          <p:cNvSpPr txBox="1"/>
          <p:nvPr/>
        </p:nvSpPr>
        <p:spPr>
          <a:xfrm>
            <a:off x="6922452" y="359410"/>
            <a:ext cx="4617720" cy="1069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Tắt hiển thị lệnh</a:t>
            </a:r>
            <a:endParaRPr lang="en-US" sz="20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Các lệnh phía sau không in ra màn hình. Dấu @ giúp chính dòng này cũng được ẩn.</a:t>
            </a:r>
            <a:endParaRPr lang="en-US" sz="2000" dirty="0"/>
          </a:p>
        </p:txBody>
      </p:sp>
      <p:sp>
        <p:nvSpPr>
          <p:cNvPr id="8" name="Số 2 (nền)">
            <a:extLst>
              <a:ext uri="{FF2B5EF4-FFF2-40B4-BE49-F238E27FC236}">
                <a16:creationId xmlns:a16="http://schemas.microsoft.com/office/drawing/2014/main" id="{2EAEC57C-DA96-5FE9-BA40-2DBC632C2E8E}"/>
              </a:ext>
            </a:extLst>
          </p:cNvPr>
          <p:cNvSpPr/>
          <p:nvPr/>
        </p:nvSpPr>
        <p:spPr>
          <a:xfrm>
            <a:off x="547052" y="2041525"/>
            <a:ext cx="548640" cy="54864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Số 2">
            <a:extLst>
              <a:ext uri="{FF2B5EF4-FFF2-40B4-BE49-F238E27FC236}">
                <a16:creationId xmlns:a16="http://schemas.microsoft.com/office/drawing/2014/main" id="{F5F8CF69-F696-1526-5918-E22F513CDE65}"/>
              </a:ext>
            </a:extLst>
          </p:cNvPr>
          <p:cNvSpPr txBox="1"/>
          <p:nvPr/>
        </p:nvSpPr>
        <p:spPr>
          <a:xfrm>
            <a:off x="547052" y="2041525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Code dòng 2 (khung)">
            <a:extLst>
              <a:ext uri="{FF2B5EF4-FFF2-40B4-BE49-F238E27FC236}">
                <a16:creationId xmlns:a16="http://schemas.microsoft.com/office/drawing/2014/main" id="{2E269EF8-AD70-B01C-E030-908DE035506A}"/>
              </a:ext>
            </a:extLst>
          </p:cNvPr>
          <p:cNvSpPr/>
          <p:nvPr/>
        </p:nvSpPr>
        <p:spPr>
          <a:xfrm>
            <a:off x="1370012" y="1593850"/>
            <a:ext cx="4937760" cy="1892935"/>
          </a:xfrm>
          <a:prstGeom prst="roundRect">
            <a:avLst>
              <a:gd name="adj" fmla="val 6667"/>
            </a:avLst>
          </a:prstGeom>
          <a:solidFill>
            <a:schemeClr val="tx1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700"/>
          </a:p>
        </p:txBody>
      </p:sp>
      <p:sp>
        <p:nvSpPr>
          <p:cNvPr id="11" name="Code dòng 2">
            <a:extLst>
              <a:ext uri="{FF2B5EF4-FFF2-40B4-BE49-F238E27FC236}">
                <a16:creationId xmlns:a16="http://schemas.microsoft.com/office/drawing/2014/main" id="{B5C8C88E-1E82-3A8E-4F82-C008B866DDB6}"/>
              </a:ext>
            </a:extLst>
          </p:cNvPr>
          <p:cNvSpPr txBox="1"/>
          <p:nvPr/>
        </p:nvSpPr>
        <p:spPr>
          <a:xfrm>
            <a:off x="1507172" y="2041525"/>
            <a:ext cx="4572000" cy="1303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echo ===== BAO CAO SU CO HE THONG =====</a:t>
            </a:r>
            <a:r>
              <a:rPr lang="vi-VN" altLang="en-US" b="1" dirty="0">
                <a:solidFill>
                  <a:schemeClr val="bg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&gt;&gt; backup\bao-cao-su-co.txt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  <a:sym typeface="+mn-ea"/>
              </a:rPr>
              <a:t>echo Thoi gian chay: %date% %time%</a:t>
            </a:r>
            <a:r>
              <a:rPr lang="vi-VN" altLang="en-US" b="1" dirty="0">
                <a:solidFill>
                  <a:schemeClr val="bg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  <a:sym typeface="+mn-ea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  <a:sym typeface="+mn-ea"/>
              </a:rPr>
              <a:t>&gt;&gt; backup\bao-cao-su-co.txt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2" name="Mũi tên 2" descr="dẫn tới">
            <a:extLst>
              <a:ext uri="{FF2B5EF4-FFF2-40B4-BE49-F238E27FC236}">
                <a16:creationId xmlns:a16="http://schemas.microsoft.com/office/drawing/2014/main" id="{63669415-CC1D-25EC-1020-961C670A9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932" y="2699893"/>
            <a:ext cx="329184" cy="329184"/>
          </a:xfrm>
          <a:prstGeom prst="rect">
            <a:avLst/>
          </a:prstGeom>
        </p:spPr>
      </p:pic>
      <p:sp>
        <p:nvSpPr>
          <p:cNvPr id="13" name="Giải thích dòng 2">
            <a:extLst>
              <a:ext uri="{FF2B5EF4-FFF2-40B4-BE49-F238E27FC236}">
                <a16:creationId xmlns:a16="http://schemas.microsoft.com/office/drawing/2014/main" id="{B61452C0-C05A-561D-DC92-1D95FC0FA366}"/>
              </a:ext>
            </a:extLst>
          </p:cNvPr>
          <p:cNvSpPr txBox="1"/>
          <p:nvPr/>
        </p:nvSpPr>
        <p:spPr>
          <a:xfrm>
            <a:off x="6959917" y="1657350"/>
            <a:ext cx="46177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Ghi tiêu đề báo cá</a:t>
            </a:r>
            <a:r>
              <a:rPr lang="vi-VN" altLang="en-US" sz="2000" b="1" dirty="0">
                <a:solidFill>
                  <a:schemeClr val="accent1"/>
                </a:solidFill>
              </a:rPr>
              <a:t>o và thời điểm chạy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sym typeface="+mn-ea"/>
              </a:rPr>
              <a:t>%date% và %time% là biến hệ thống chứa ngày giờ hiện tại, giúp phân biệt các lần báo cáo.</a:t>
            </a:r>
            <a:endParaRPr lang="en-US" sz="2000" dirty="0"/>
          </a:p>
        </p:txBody>
      </p:sp>
      <p:sp>
        <p:nvSpPr>
          <p:cNvPr id="14" name="Số 3 (nền)">
            <a:extLst>
              <a:ext uri="{FF2B5EF4-FFF2-40B4-BE49-F238E27FC236}">
                <a16:creationId xmlns:a16="http://schemas.microsoft.com/office/drawing/2014/main" id="{96BFF23B-CB7D-B46E-699D-53660231AE4F}"/>
              </a:ext>
            </a:extLst>
          </p:cNvPr>
          <p:cNvSpPr/>
          <p:nvPr/>
        </p:nvSpPr>
        <p:spPr>
          <a:xfrm>
            <a:off x="547052" y="4190365"/>
            <a:ext cx="548640" cy="54864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Số 3">
            <a:extLst>
              <a:ext uri="{FF2B5EF4-FFF2-40B4-BE49-F238E27FC236}">
                <a16:creationId xmlns:a16="http://schemas.microsoft.com/office/drawing/2014/main" id="{00BA6232-4DB0-7291-1977-56A92E086E6A}"/>
              </a:ext>
            </a:extLst>
          </p:cNvPr>
          <p:cNvSpPr txBox="1"/>
          <p:nvPr/>
        </p:nvSpPr>
        <p:spPr>
          <a:xfrm>
            <a:off x="547052" y="4190365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pic>
        <p:nvPicPr>
          <p:cNvPr id="16" name="Mũi tên 3" descr="dẫn tới">
            <a:extLst>
              <a:ext uri="{FF2B5EF4-FFF2-40B4-BE49-F238E27FC236}">
                <a16:creationId xmlns:a16="http://schemas.microsoft.com/office/drawing/2014/main" id="{EFF22BBB-B1B1-5A96-2218-E40DF562F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932" y="4300093"/>
            <a:ext cx="329184" cy="329184"/>
          </a:xfrm>
          <a:prstGeom prst="rect">
            <a:avLst/>
          </a:prstGeom>
        </p:spPr>
      </p:pic>
      <p:sp>
        <p:nvSpPr>
          <p:cNvPr id="17" name="Giải thích dòng 3">
            <a:extLst>
              <a:ext uri="{FF2B5EF4-FFF2-40B4-BE49-F238E27FC236}">
                <a16:creationId xmlns:a16="http://schemas.microsoft.com/office/drawing/2014/main" id="{F4C56937-17D3-E3FC-A6F7-A3C9697F6028}"/>
              </a:ext>
            </a:extLst>
          </p:cNvPr>
          <p:cNvSpPr txBox="1"/>
          <p:nvPr/>
        </p:nvSpPr>
        <p:spPr>
          <a:xfrm>
            <a:off x="6993572" y="3778885"/>
            <a:ext cx="46177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altLang="en-US" sz="2000" b="1" dirty="0">
                <a:solidFill>
                  <a:schemeClr val="accent1"/>
                </a:solidFill>
                <a:sym typeface="+mn-ea"/>
              </a:rPr>
              <a:t>PIPE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sym typeface="+mn-ea"/>
              </a:rPr>
              <a:t>Giữ</a:t>
            </a:r>
            <a:r>
              <a:rPr lang="vi-VN" altLang="en-US" sz="1400" dirty="0">
                <a:solidFill>
                  <a:schemeClr val="tx2"/>
                </a:solidFill>
                <a:sym typeface="+mn-ea"/>
              </a:rPr>
              <a:t> không ghi vào File báo cáo các</a:t>
            </a:r>
            <a:r>
              <a:rPr lang="en-US" sz="1400" dirty="0">
                <a:solidFill>
                  <a:schemeClr val="tx2"/>
                </a:solidFill>
                <a:sym typeface="+mn-ea"/>
              </a:rPr>
              <a:t> dòng chứa từ khóa</a:t>
            </a:r>
            <a:r>
              <a:rPr lang="vi-VN" altLang="en-US" sz="1400" dirty="0">
                <a:solidFill>
                  <a:schemeClr val="tx2"/>
                </a:solidFill>
                <a:sym typeface="+mn-ea"/>
              </a:rPr>
              <a:t> “CRITICAL ERROR TIMEOUT”</a:t>
            </a:r>
            <a:r>
              <a:rPr lang="en-US" sz="1400" dirty="0">
                <a:solidFill>
                  <a:schemeClr val="tx2"/>
                </a:solidFill>
                <a:sym typeface="+mn-ea"/>
              </a:rPr>
              <a:t>. </a:t>
            </a:r>
            <a:r>
              <a:rPr lang="vi-VN" altLang="en-US" sz="1400" dirty="0">
                <a:solidFill>
                  <a:schemeClr val="tx2"/>
                </a:solidFill>
                <a:sym typeface="+mn-ea"/>
              </a:rPr>
              <a:t>(</a:t>
            </a:r>
            <a:r>
              <a:rPr lang="en-US" sz="1400" dirty="0">
                <a:solidFill>
                  <a:schemeClr val="tx2"/>
                </a:solidFill>
                <a:sym typeface="+mn-ea"/>
              </a:rPr>
              <a:t>/I là không phân biệt hoa thường.</a:t>
            </a:r>
            <a:r>
              <a:rPr lang="vi-VN" altLang="en-US" sz="1400" dirty="0">
                <a:solidFill>
                  <a:schemeClr val="tx2"/>
                </a:solidFill>
                <a:sym typeface="+mn-ea"/>
              </a:rPr>
              <a:t>)</a:t>
            </a:r>
          </a:p>
        </p:txBody>
      </p:sp>
      <p:sp>
        <p:nvSpPr>
          <p:cNvPr id="18" name="Slide Number Placeholder 0">
            <a:extLst>
              <a:ext uri="{FF2B5EF4-FFF2-40B4-BE49-F238E27FC236}">
                <a16:creationId xmlns:a16="http://schemas.microsoft.com/office/drawing/2014/main" id="{AB9DB624-8897-B374-1C70-3920E54967BE}"/>
              </a:ext>
            </a:extLst>
          </p:cNvPr>
          <p:cNvSpPr>
            <a:spLocks noGrp="1"/>
          </p:cNvSpPr>
          <p:nvPr/>
        </p:nvSpPr>
        <p:spPr>
          <a:xfrm>
            <a:off x="11187747" y="5703062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 marL="0" algn="l" defTabSz="914400" rtl="0" eaLnBrk="1" latinLnBrk="0" hangingPunct="1">
              <a:defRPr sz="11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b="0"/>
              <a:pPr algn="r"/>
              <a:t>7</a:t>
            </a:fld>
            <a:endParaRPr lang="en-US"/>
          </a:p>
        </p:txBody>
      </p:sp>
      <p:sp>
        <p:nvSpPr>
          <p:cNvPr id="19" name="Code phần 1 (khung)">
            <a:extLst>
              <a:ext uri="{FF2B5EF4-FFF2-40B4-BE49-F238E27FC236}">
                <a16:creationId xmlns:a16="http://schemas.microsoft.com/office/drawing/2014/main" id="{ED79B665-0D8A-755E-6D4D-D6713CA0B266}"/>
              </a:ext>
            </a:extLst>
          </p:cNvPr>
          <p:cNvSpPr/>
          <p:nvPr/>
        </p:nvSpPr>
        <p:spPr>
          <a:xfrm>
            <a:off x="1370012" y="3797300"/>
            <a:ext cx="4983480" cy="1397000"/>
          </a:xfrm>
          <a:prstGeom prst="roundRect">
            <a:avLst>
              <a:gd name="adj" fmla="val 18182"/>
            </a:avLst>
          </a:prstGeom>
          <a:solidFill>
            <a:schemeClr val="tx1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  <a:sym typeface="+mn-ea"/>
              </a:rPr>
              <a:t>type data\log-he-thong.log</a:t>
            </a:r>
            <a:r>
              <a:rPr lang="vi-VN" altLang="en-US" b="1" dirty="0">
                <a:solidFill>
                  <a:schemeClr val="bg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  <a:sym typeface="+mn-ea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  <a:sym typeface="+mn-ea"/>
              </a:rPr>
              <a:t>|</a:t>
            </a:r>
            <a:r>
              <a:rPr lang="vi-VN" altLang="en-US" b="1" dirty="0">
                <a:solidFill>
                  <a:schemeClr val="bg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  <a:sym typeface="+mn-ea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  <a:sym typeface="+mn-ea"/>
              </a:rPr>
              <a:t>findstr /I "CRITICAL ERROR TIMEOUT"</a:t>
            </a:r>
            <a:r>
              <a:rPr lang="vi-VN" altLang="en-US" b="1" dirty="0">
                <a:solidFill>
                  <a:schemeClr val="bg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  <a:sym typeface="+mn-ea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  <a:sym typeface="+mn-ea"/>
              </a:rPr>
              <a:t>&gt;&gt; backup\bao-cao-su-co.txt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vi-VN" altLang="en-US" b="1" dirty="0">
              <a:solidFill>
                <a:schemeClr val="bg1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  <a:sym typeface="+mn-ea"/>
            </a:endParaRPr>
          </a:p>
        </p:txBody>
      </p:sp>
      <p:sp>
        <p:nvSpPr>
          <p:cNvPr id="20" name="Chip lệnh">
            <a:extLst>
              <a:ext uri="{FF2B5EF4-FFF2-40B4-BE49-F238E27FC236}">
                <a16:creationId xmlns:a16="http://schemas.microsoft.com/office/drawing/2014/main" id="{09D56C65-8055-B229-4672-01A4C98843A3}"/>
              </a:ext>
            </a:extLst>
          </p:cNvPr>
          <p:cNvSpPr/>
          <p:nvPr/>
        </p:nvSpPr>
        <p:spPr>
          <a:xfrm>
            <a:off x="655637" y="5858510"/>
            <a:ext cx="2571115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1" name="Text Box 39">
            <a:extLst>
              <a:ext uri="{FF2B5EF4-FFF2-40B4-BE49-F238E27FC236}">
                <a16:creationId xmlns:a16="http://schemas.microsoft.com/office/drawing/2014/main" id="{667DBEB8-7233-3437-5454-6E3A8146F0ED}"/>
              </a:ext>
            </a:extLst>
          </p:cNvPr>
          <p:cNvSpPr txBox="1"/>
          <p:nvPr/>
        </p:nvSpPr>
        <p:spPr>
          <a:xfrm>
            <a:off x="936306" y="5977382"/>
            <a:ext cx="20097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+mj-lt"/>
                <a:ea typeface="+mj-lt"/>
                <a:cs typeface="+mj-lt"/>
                <a:sym typeface="+mn-ea"/>
                <a:hlinkClick r:id="rId3" action="ppaction://hlinkfile"/>
              </a:rPr>
              <a:t>auto_report.</a:t>
            </a:r>
            <a:r>
              <a:rPr lang="vi-V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+mj-lt"/>
                <a:ea typeface="+mj-lt"/>
                <a:cs typeface="+mj-lt"/>
                <a:sym typeface="+mn-ea"/>
                <a:hlinkClick r:id="rId3" action="ppaction://hlinkfile"/>
              </a:rPr>
              <a:t>sh</a:t>
            </a:r>
            <a:endParaRPr lang="vi-VN" alt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+mj-lt"/>
              <a:ea typeface="+mj-lt"/>
              <a:cs typeface="+mj-lt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1610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">
            <a:extLst>
              <a:ext uri="{FF2B5EF4-FFF2-40B4-BE49-F238E27FC236}">
                <a16:creationId xmlns:a16="http://schemas.microsoft.com/office/drawing/2014/main" id="{8DA4B0C9-485D-9F29-409E-A9C100A40A30}"/>
              </a:ext>
            </a:extLst>
          </p:cNvPr>
          <p:cNvSpPr txBox="1"/>
          <p:nvPr/>
        </p:nvSpPr>
        <p:spPr>
          <a:xfrm>
            <a:off x="737552" y="200025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vi-VN" altLang="en-US" sz="3800" b="1" dirty="0"/>
              <a:t>Aldult (Thẩm định)</a:t>
            </a:r>
          </a:p>
        </p:txBody>
      </p:sp>
      <p:sp>
        <p:nvSpPr>
          <p:cNvPr id="3" name="Dòng log 1 (khung)">
            <a:extLst>
              <a:ext uri="{FF2B5EF4-FFF2-40B4-BE49-F238E27FC236}">
                <a16:creationId xmlns:a16="http://schemas.microsoft.com/office/drawing/2014/main" id="{B138C111-8CE1-90A9-2779-BEC2F9267632}"/>
              </a:ext>
            </a:extLst>
          </p:cNvPr>
          <p:cNvSpPr/>
          <p:nvPr/>
        </p:nvSpPr>
        <p:spPr>
          <a:xfrm>
            <a:off x="387032" y="1251585"/>
            <a:ext cx="6949440" cy="4211320"/>
          </a:xfrm>
          <a:prstGeom prst="roundRect">
            <a:avLst>
              <a:gd name="adj" fmla="val 12500"/>
            </a:avLst>
          </a:prstGeom>
          <a:solidFill>
            <a:schemeClr val="tx1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hẻ ghi chú 1">
            <a:extLst>
              <a:ext uri="{FF2B5EF4-FFF2-40B4-BE49-F238E27FC236}">
                <a16:creationId xmlns:a16="http://schemas.microsoft.com/office/drawing/2014/main" id="{19ECC9FF-AEE9-94D6-F5AE-0886D2D5EC39}"/>
              </a:ext>
            </a:extLst>
          </p:cNvPr>
          <p:cNvSpPr/>
          <p:nvPr/>
        </p:nvSpPr>
        <p:spPr>
          <a:xfrm>
            <a:off x="8148637" y="1251585"/>
            <a:ext cx="3653155" cy="823595"/>
          </a:xfrm>
          <a:prstGeom prst="roundRect">
            <a:avLst>
              <a:gd name="adj" fmla="val 4348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Ghi chú 1">
            <a:extLst>
              <a:ext uri="{FF2B5EF4-FFF2-40B4-BE49-F238E27FC236}">
                <a16:creationId xmlns:a16="http://schemas.microsoft.com/office/drawing/2014/main" id="{48BD51FA-21E9-21C9-B45D-03EBD2A98EEB}"/>
              </a:ext>
            </a:extLst>
          </p:cNvPr>
          <p:cNvSpPr txBox="1"/>
          <p:nvPr/>
        </p:nvSpPr>
        <p:spPr>
          <a:xfrm>
            <a:off x="8241347" y="1252220"/>
            <a:ext cx="3469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5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Arial Regular" panose="020B0704020202020204" charset="0"/>
                <a:cs typeface="Arial Regular" panose="020B0704020202020204" charset="0"/>
              </a:rPr>
              <a:t>dir /b</a:t>
            </a:r>
            <a:r>
              <a:rPr lang="en-US" altLang="en-US" sz="1500" dirty="0">
                <a:latin typeface="Arial Regular" panose="020B0704020202020204" charset="0"/>
                <a:cs typeface="Arial Regular" panose="020B0704020202020204" charset="0"/>
              </a:rPr>
              <a:t> buộc hệ thống phải hiển thị file sắp bị tác </a:t>
            </a:r>
            <a:r>
              <a:rPr lang="" altLang="en-US" sz="1500" dirty="0">
                <a:latin typeface="Arial Regular" panose="020B0704020202020204" charset="0"/>
                <a:cs typeface="Arial Regular" panose="020B0704020202020204" charset="0"/>
              </a:rPr>
              <a:t>đ</a:t>
            </a:r>
            <a:r>
              <a:rPr lang="en-US" altLang="en-US" sz="1500" dirty="0">
                <a:latin typeface="Arial Regular" panose="020B0704020202020204" charset="0"/>
                <a:cs typeface="Arial Regular" panose="020B0704020202020204" charset="0"/>
              </a:rPr>
              <a:t>ộng lên màn hình</a:t>
            </a:r>
            <a:r>
              <a:rPr lang="vi-VN" altLang="en-US" sz="1500" dirty="0">
                <a:latin typeface="Arial Regular" panose="020B0704020202020204" charset="0"/>
                <a:cs typeface="Arial Regular" panose="020B0704020202020204" charset="0"/>
              </a:rPr>
              <a:t>.</a:t>
            </a:r>
          </a:p>
        </p:txBody>
      </p:sp>
      <p:sp>
        <p:nvSpPr>
          <p:cNvPr id="6" name="Slide Number Placeholder 0">
            <a:extLst>
              <a:ext uri="{FF2B5EF4-FFF2-40B4-BE49-F238E27FC236}">
                <a16:creationId xmlns:a16="http://schemas.microsoft.com/office/drawing/2014/main" id="{C11F92BE-DB5E-C46B-7A84-165D0E413AA7}"/>
              </a:ext>
            </a:extLst>
          </p:cNvPr>
          <p:cNvSpPr>
            <a:spLocks noGrp="1"/>
          </p:cNvSpPr>
          <p:nvPr/>
        </p:nvSpPr>
        <p:spPr>
          <a:xfrm>
            <a:off x="11344592" y="6216777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 marL="0" algn="l" defTabSz="914400" rtl="0" eaLnBrk="1" latinLnBrk="0" hangingPunct="1">
              <a:defRPr sz="11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b="0"/>
              <a:pPr algn="r"/>
              <a:t>3</a:t>
            </a:fld>
            <a:endParaRPr lang="en-US"/>
          </a:p>
        </p:txBody>
      </p:sp>
      <p:sp>
        <p:nvSpPr>
          <p:cNvPr id="7" name="Chip lệnh">
            <a:extLst>
              <a:ext uri="{FF2B5EF4-FFF2-40B4-BE49-F238E27FC236}">
                <a16:creationId xmlns:a16="http://schemas.microsoft.com/office/drawing/2014/main" id="{636A29EA-0865-E9C4-8D57-2DCA096C0959}"/>
              </a:ext>
            </a:extLst>
          </p:cNvPr>
          <p:cNvSpPr/>
          <p:nvPr/>
        </p:nvSpPr>
        <p:spPr>
          <a:xfrm>
            <a:off x="583882" y="6017895"/>
            <a:ext cx="2571115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Box 39">
            <a:extLst>
              <a:ext uri="{FF2B5EF4-FFF2-40B4-BE49-F238E27FC236}">
                <a16:creationId xmlns:a16="http://schemas.microsoft.com/office/drawing/2014/main" id="{909D9E0C-2780-195B-AE27-5921236DEBDB}"/>
              </a:ext>
            </a:extLst>
          </p:cNvPr>
          <p:cNvSpPr txBox="1"/>
          <p:nvPr/>
        </p:nvSpPr>
        <p:spPr>
          <a:xfrm>
            <a:off x="898842" y="6092190"/>
            <a:ext cx="20097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+mj-lt"/>
                <a:ea typeface="+mj-lt"/>
                <a:cs typeface="+mj-lt"/>
                <a:sym typeface="+mn-ea"/>
              </a:rPr>
              <a:t>auto_report.</a:t>
            </a:r>
            <a:r>
              <a:rPr lang="vi-V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+mj-lt"/>
                <a:ea typeface="+mj-lt"/>
                <a:cs typeface="+mj-lt"/>
                <a:sym typeface="+mn-ea"/>
              </a:rPr>
              <a:t>sh</a:t>
            </a:r>
          </a:p>
        </p:txBody>
      </p:sp>
      <p:sp>
        <p:nvSpPr>
          <p:cNvPr id="9" name="Text Box 40">
            <a:extLst>
              <a:ext uri="{FF2B5EF4-FFF2-40B4-BE49-F238E27FC236}">
                <a16:creationId xmlns:a16="http://schemas.microsoft.com/office/drawing/2014/main" id="{D4D0203C-1FD3-61E7-4E2A-8B534826A064}"/>
              </a:ext>
            </a:extLst>
          </p:cNvPr>
          <p:cNvSpPr txBox="1"/>
          <p:nvPr/>
        </p:nvSpPr>
        <p:spPr>
          <a:xfrm>
            <a:off x="502602" y="1536065"/>
            <a:ext cx="6717665" cy="396938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altLang="zh-CN" b="1" i="0">
                <a:solidFill>
                  <a:srgbClr val="FFFFFF"/>
                </a:solidFill>
                <a:latin typeface="Courier New Bold" panose="02070609020205020404" charset="0"/>
                <a:ea typeface="-webkit-standard"/>
                <a:cs typeface="Courier New Bold" panose="02070609020205020404" charset="0"/>
              </a:rPr>
              <a:t>echo [AUDIT] File chuan bi xoa: </a:t>
            </a:r>
          </a:p>
          <a:p>
            <a:pPr marL="0" indent="0"/>
            <a:endParaRPr lang="en-US" altLang="zh-CN" b="1" i="0">
              <a:solidFill>
                <a:srgbClr val="FFFFFF"/>
              </a:solidFill>
              <a:latin typeface="Courier New Bold" panose="02070609020205020404" charset="0"/>
              <a:ea typeface="-webkit-standard"/>
              <a:cs typeface="Courier New Bold" panose="02070609020205020404" charset="0"/>
            </a:endParaRPr>
          </a:p>
          <a:p>
            <a:pPr marL="0" indent="0"/>
            <a:r>
              <a:rPr lang="en-US" altLang="zh-CN" b="1" i="0">
                <a:solidFill>
                  <a:srgbClr val="FFFFFF"/>
                </a:solidFill>
                <a:latin typeface="Courier New Bold" panose="02070609020205020404" charset="0"/>
                <a:ea typeface="-webkit-standard"/>
                <a:cs typeface="Courier New Bold" panose="02070609020205020404" charset="0"/>
              </a:rPr>
              <a:t>dir /b "data\log-he-thong.log" </a:t>
            </a:r>
          </a:p>
          <a:p>
            <a:pPr marL="0" indent="0"/>
            <a:endParaRPr lang="en-US" altLang="zh-CN" b="1" i="0">
              <a:solidFill>
                <a:srgbClr val="FFFFFF"/>
              </a:solidFill>
              <a:latin typeface="Courier New Bold" panose="02070609020205020404" charset="0"/>
              <a:ea typeface="-webkit-standard"/>
              <a:cs typeface="Courier New Bold" panose="02070609020205020404" charset="0"/>
            </a:endParaRPr>
          </a:p>
          <a:p>
            <a:pPr marL="0" indent="0"/>
            <a:r>
              <a:rPr lang="en-US" altLang="zh-CN" b="1" i="0">
                <a:solidFill>
                  <a:srgbClr val="FFFFFF"/>
                </a:solidFill>
                <a:latin typeface="Courier New Bold" panose="02070609020205020404" charset="0"/>
                <a:ea typeface="-webkit-standard"/>
                <a:cs typeface="Courier New Bold" panose="02070609020205020404" charset="0"/>
              </a:rPr>
              <a:t>set /p "ans=</a:t>
            </a:r>
            <a:r>
              <a:rPr lang="vi-VN" altLang="en-US" b="1" i="0">
                <a:solidFill>
                  <a:srgbClr val="FFFFFF"/>
                </a:solidFill>
                <a:latin typeface="Courier New Bold" panose="02070609020205020404" charset="0"/>
                <a:ea typeface="-webkit-standard"/>
                <a:cs typeface="Courier New Bold" panose="02070609020205020404" charset="0"/>
              </a:rPr>
              <a:t>Xac nhan xoa</a:t>
            </a:r>
            <a:r>
              <a:rPr lang="en-US" altLang="zh-CN" b="1" i="0">
                <a:solidFill>
                  <a:srgbClr val="FFFFFF"/>
                </a:solidFill>
                <a:latin typeface="Courier New Bold" panose="02070609020205020404" charset="0"/>
                <a:ea typeface="-webkit-standard"/>
                <a:cs typeface="Courier New Bold" panose="02070609020205020404" charset="0"/>
              </a:rPr>
              <a:t>? (Y/N): " </a:t>
            </a:r>
          </a:p>
          <a:p>
            <a:pPr marL="0" indent="0"/>
            <a:endParaRPr lang="en-US" altLang="zh-CN" b="1" i="0">
              <a:solidFill>
                <a:srgbClr val="FFFFFF"/>
              </a:solidFill>
              <a:latin typeface="Courier New Bold" panose="02070609020205020404" charset="0"/>
              <a:ea typeface="-webkit-standard"/>
              <a:cs typeface="Courier New Bold" panose="02070609020205020404" charset="0"/>
            </a:endParaRPr>
          </a:p>
          <a:p>
            <a:pPr marL="0" indent="0"/>
            <a:r>
              <a:rPr lang="en-US" altLang="zh-CN" b="1" i="0">
                <a:solidFill>
                  <a:srgbClr val="FFFFFF"/>
                </a:solidFill>
                <a:latin typeface="Courier New Bold" panose="02070609020205020404" charset="0"/>
                <a:ea typeface="-webkit-standard"/>
                <a:cs typeface="Courier New Bold" panose="02070609020205020404" charset="0"/>
              </a:rPr>
              <a:t>if /I "%ans%"=="Y" ( </a:t>
            </a:r>
          </a:p>
          <a:p>
            <a:pPr marL="0" indent="457200"/>
            <a:r>
              <a:rPr lang="en-US" altLang="zh-CN" b="1" i="0">
                <a:solidFill>
                  <a:srgbClr val="FFFFFF"/>
                </a:solidFill>
                <a:latin typeface="Courier New Bold" panose="02070609020205020404" charset="0"/>
                <a:ea typeface="-webkit-standard"/>
                <a:cs typeface="Courier New Bold" panose="02070609020205020404" charset="0"/>
              </a:rPr>
              <a:t>del "data\log-he-thong.log" </a:t>
            </a:r>
          </a:p>
          <a:p>
            <a:pPr marL="0" indent="457200"/>
            <a:r>
              <a:rPr lang="en-US" altLang="zh-CN" b="1" i="0">
                <a:solidFill>
                  <a:srgbClr val="FFFFFF"/>
                </a:solidFill>
                <a:latin typeface="Courier New Bold" panose="02070609020205020404" charset="0"/>
                <a:ea typeface="-webkit-standard"/>
                <a:cs typeface="Courier New Bold" panose="02070609020205020404" charset="0"/>
              </a:rPr>
              <a:t>echo [OK] Da xoa xong. </a:t>
            </a:r>
          </a:p>
          <a:p>
            <a:pPr marL="0" indent="457200"/>
            <a:r>
              <a:rPr lang="en-US" altLang="zh-CN" b="1" i="0">
                <a:solidFill>
                  <a:srgbClr val="FFFFFF"/>
                </a:solidFill>
                <a:latin typeface="Courier New Bold" panose="02070609020205020404" charset="0"/>
                <a:ea typeface="-webkit-standard"/>
                <a:cs typeface="Courier New Bold" panose="02070609020205020404" charset="0"/>
              </a:rPr>
              <a:t>)</a:t>
            </a:r>
            <a:r>
              <a:rPr lang="vi-VN" altLang="en-US" b="1" i="0">
                <a:solidFill>
                  <a:srgbClr val="FFFFFF"/>
                </a:solidFill>
                <a:latin typeface="Courier New Bold" panose="02070609020205020404" charset="0"/>
                <a:ea typeface="-webkit-standard"/>
                <a:cs typeface="Courier New Bold" panose="02070609020205020404" charset="0"/>
              </a:rPr>
              <a:t> </a:t>
            </a:r>
            <a:r>
              <a:rPr lang="en-US" altLang="zh-CN" b="1">
                <a:solidFill>
                  <a:srgbClr val="FFFFFF"/>
                </a:solidFill>
                <a:latin typeface="Courier New Bold" panose="02070609020205020404" charset="0"/>
                <a:ea typeface="-webkit-standard"/>
                <a:cs typeface="Courier New Bold" panose="02070609020205020404" charset="0"/>
                <a:sym typeface="+mn-ea"/>
              </a:rPr>
              <a:t>else ( </a:t>
            </a:r>
          </a:p>
          <a:p>
            <a:pPr marL="457200" lvl="1" indent="457200"/>
            <a:r>
              <a:rPr lang="en-US" altLang="zh-CN" b="1">
                <a:solidFill>
                  <a:srgbClr val="FFFFFF"/>
                </a:solidFill>
                <a:latin typeface="Courier New Bold" panose="02070609020205020404" charset="0"/>
                <a:ea typeface="-webkit-standard"/>
                <a:cs typeface="Courier New Bold" panose="02070609020205020404" charset="0"/>
                <a:sym typeface="+mn-ea"/>
              </a:rPr>
              <a:t>echo [HUY] Giu lai file.</a:t>
            </a:r>
          </a:p>
          <a:p>
            <a:pPr marL="457200" lvl="1" indent="457200"/>
            <a:r>
              <a:rPr lang="en-US" altLang="zh-CN" b="1">
                <a:solidFill>
                  <a:srgbClr val="FFFFFF"/>
                </a:solidFill>
                <a:latin typeface="Courier New Bold" panose="02070609020205020404" charset="0"/>
                <a:ea typeface="-webkit-standard"/>
                <a:cs typeface="Courier New Bold" panose="02070609020205020404" charset="0"/>
                <a:sym typeface="+mn-ea"/>
              </a:rPr>
              <a:t>) </a:t>
            </a:r>
          </a:p>
          <a:p>
            <a:pPr marL="457200" lvl="1" indent="457200"/>
            <a:r>
              <a:rPr lang="en-US" altLang="zh-CN" b="1">
                <a:solidFill>
                  <a:srgbClr val="FFFFFF"/>
                </a:solidFill>
                <a:latin typeface="Courier New Bold" panose="02070609020205020404" charset="0"/>
                <a:ea typeface="-webkit-standard"/>
                <a:cs typeface="Courier New Bold" panose="02070609020205020404" charset="0"/>
                <a:sym typeface="+mn-ea"/>
              </a:rPr>
              <a:t>pause</a:t>
            </a:r>
            <a:endParaRPr lang="en-US" altLang="zh-CN" b="1" i="0">
              <a:solidFill>
                <a:srgbClr val="FFFFFF"/>
              </a:solidFill>
              <a:latin typeface="Courier New Bold" panose="02070609020205020404" charset="0"/>
              <a:ea typeface="-webkit-standard"/>
              <a:cs typeface="Courier New Bold" panose="02070609020205020404" charset="0"/>
            </a:endParaRPr>
          </a:p>
          <a:p>
            <a:pPr marL="0" indent="457200"/>
            <a:endParaRPr lang="vi-VN" altLang="en-US" b="1" i="0">
              <a:solidFill>
                <a:srgbClr val="FFFFFF"/>
              </a:solidFill>
              <a:latin typeface="Courier New Bold" panose="02070609020205020404" charset="0"/>
              <a:ea typeface="-webkit-standard"/>
              <a:cs typeface="Courier New Bold" panose="02070609020205020404" charset="0"/>
            </a:endParaRPr>
          </a:p>
        </p:txBody>
      </p:sp>
      <p:sp>
        <p:nvSpPr>
          <p:cNvPr id="10" name="Thẻ ghi chú 1">
            <a:extLst>
              <a:ext uri="{FF2B5EF4-FFF2-40B4-BE49-F238E27FC236}">
                <a16:creationId xmlns:a16="http://schemas.microsoft.com/office/drawing/2014/main" id="{DFF8D271-73B2-203A-8AF2-9A33FEF22CE8}"/>
              </a:ext>
            </a:extLst>
          </p:cNvPr>
          <p:cNvSpPr/>
          <p:nvPr/>
        </p:nvSpPr>
        <p:spPr>
          <a:xfrm>
            <a:off x="8147367" y="2439670"/>
            <a:ext cx="3657600" cy="398780"/>
          </a:xfrm>
          <a:prstGeom prst="roundRect">
            <a:avLst>
              <a:gd name="adj" fmla="val 4348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altLang="en-US" sz="15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set</a:t>
            </a:r>
            <a:r>
              <a:rPr lang="en-US" altLang="en-US" sz="15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 /</a:t>
            </a:r>
            <a:r>
              <a:rPr lang="vi-VN" altLang="en-US" sz="15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p </a:t>
            </a:r>
            <a:r>
              <a:rPr lang="vi-VN" altLang="en-US" sz="1500">
                <a:latin typeface="+mn-ea"/>
                <a:cs typeface="+mn-ea"/>
              </a:rPr>
              <a:t>hỏi ý kiến (Y-có, N-không).</a:t>
            </a:r>
          </a:p>
        </p:txBody>
      </p:sp>
      <p:pic>
        <p:nvPicPr>
          <p:cNvPr id="11" name="Picture 10" descr="Screenshot 2026-10-27 at 03.54.47">
            <a:extLst>
              <a:ext uri="{FF2B5EF4-FFF2-40B4-BE49-F238E27FC236}">
                <a16:creationId xmlns:a16="http://schemas.microsoft.com/office/drawing/2014/main" id="{8D125C0B-F722-1CAF-EFFA-062C9A1CC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987" y="4255135"/>
            <a:ext cx="3302000" cy="1993900"/>
          </a:xfrm>
          <a:prstGeom prst="rect">
            <a:avLst/>
          </a:prstGeom>
        </p:spPr>
      </p:pic>
      <p:sp>
        <p:nvSpPr>
          <p:cNvPr id="12" name="Text Box 51">
            <a:extLst>
              <a:ext uri="{FF2B5EF4-FFF2-40B4-BE49-F238E27FC236}">
                <a16:creationId xmlns:a16="http://schemas.microsoft.com/office/drawing/2014/main" id="{905BB6F0-9BA0-C191-C139-A47C16EBF1A8}"/>
              </a:ext>
            </a:extLst>
          </p:cNvPr>
          <p:cNvSpPr txBox="1"/>
          <p:nvPr/>
        </p:nvSpPr>
        <p:spPr>
          <a:xfrm>
            <a:off x="7929562" y="3559175"/>
            <a:ext cx="117030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vi-VN" altLang="en-US" sz="3000" b="1" dirty="0">
                <a:sym typeface="+mn-ea"/>
              </a:rPr>
              <a:t>CMD</a:t>
            </a:r>
          </a:p>
        </p:txBody>
      </p:sp>
    </p:spTree>
    <p:extLst>
      <p:ext uri="{BB962C8B-B14F-4D97-AF65-F5344CB8AC3E}">
        <p14:creationId xmlns:p14="http://schemas.microsoft.com/office/powerpoint/2010/main" val="2385464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Khung kết quả">
            <a:extLst>
              <a:ext uri="{FF2B5EF4-FFF2-40B4-BE49-F238E27FC236}">
                <a16:creationId xmlns:a16="http://schemas.microsoft.com/office/drawing/2014/main" id="{62B3FE1A-BC06-A22A-E780-1633974E9507}"/>
              </a:ext>
            </a:extLst>
          </p:cNvPr>
          <p:cNvSpPr/>
          <p:nvPr/>
        </p:nvSpPr>
        <p:spPr>
          <a:xfrm>
            <a:off x="640715" y="1472184"/>
            <a:ext cx="11064240" cy="3168650"/>
          </a:xfrm>
          <a:prstGeom prst="roundRect">
            <a:avLst>
              <a:gd name="adj" fmla="val 2273"/>
            </a:avLst>
          </a:prstGeom>
          <a:solidFill>
            <a:schemeClr val="tx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Nội dung kết quả">
            <a:extLst>
              <a:ext uri="{FF2B5EF4-FFF2-40B4-BE49-F238E27FC236}">
                <a16:creationId xmlns:a16="http://schemas.microsoft.com/office/drawing/2014/main" id="{94A8AECB-5698-7685-9540-8CED2037FF5F}"/>
              </a:ext>
            </a:extLst>
          </p:cNvPr>
          <p:cNvSpPr txBox="1"/>
          <p:nvPr/>
        </p:nvSpPr>
        <p:spPr>
          <a:xfrm>
            <a:off x="765810" y="1975104"/>
            <a:ext cx="10845165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500" b="1" dirty="0">
                <a:solidFill>
                  <a:schemeClr val="bg1"/>
                </a:solidFill>
                <a:latin typeface="Courier New Bold" panose="02070609020205020404" charset="0"/>
                <a:cs typeface="Courier New Bold" panose="02070609020205020404" charset="0"/>
                <a:sym typeface="+mn-ea"/>
              </a:rPr>
              <a:t>===== BAO CAO SU CO HE THONG =====</a:t>
            </a:r>
            <a:endParaRPr lang="en-US" altLang="en-US" sz="2500" b="1" dirty="0">
              <a:solidFill>
                <a:schemeClr val="bg1"/>
              </a:solidFill>
              <a:latin typeface="Courier New Bold" panose="02070609020205020404" charset="0"/>
              <a:cs typeface="Courier New Bold" panose="02070609020205020404" charset="0"/>
            </a:endParaRPr>
          </a:p>
          <a:p>
            <a:pPr marL="0" indent="0">
              <a:buNone/>
            </a:pPr>
            <a:r>
              <a:rPr lang="en-US" altLang="en-US" sz="2500" b="1" dirty="0">
                <a:solidFill>
                  <a:schemeClr val="bg1"/>
                </a:solidFill>
                <a:latin typeface="Courier New Bold" panose="02070609020205020404" charset="0"/>
                <a:cs typeface="Courier New Bold" panose="02070609020205020404" charset="0"/>
                <a:sym typeface="+mn-ea"/>
              </a:rPr>
              <a:t>Thoi gian chay: Mon 08/03/2026 10:00:00</a:t>
            </a:r>
            <a:endParaRPr lang="en-US" altLang="en-US" sz="2500" b="1" dirty="0">
              <a:solidFill>
                <a:schemeClr val="bg1"/>
              </a:solidFill>
              <a:latin typeface="Courier New Bold" panose="02070609020205020404" charset="0"/>
              <a:cs typeface="Courier New Bold" panose="02070609020205020404" charset="0"/>
            </a:endParaRPr>
          </a:p>
          <a:p>
            <a:pPr marL="0" indent="0">
              <a:buNone/>
            </a:pPr>
            <a:r>
              <a:rPr lang="en-US" altLang="en-US" sz="2500" b="1" dirty="0">
                <a:solidFill>
                  <a:schemeClr val="bg1"/>
                </a:solidFill>
                <a:latin typeface="Courier New Bold" panose="02070609020205020404" charset="0"/>
                <a:cs typeface="Courier New Bold" panose="02070609020205020404" charset="0"/>
                <a:sym typeface="+mn-ea"/>
              </a:rPr>
              <a:t>[10:00:12] ERROR 404 - tram-cam-bien-27 khong phan hoi</a:t>
            </a:r>
            <a:endParaRPr lang="en-US" altLang="en-US" sz="2500" b="1" dirty="0">
              <a:solidFill>
                <a:schemeClr val="bg1"/>
              </a:solidFill>
              <a:latin typeface="Courier New Bold" panose="02070609020205020404" charset="0"/>
              <a:cs typeface="Courier New Bold" panose="02070609020205020404" charset="0"/>
            </a:endParaRPr>
          </a:p>
          <a:p>
            <a:pPr marL="0" indent="0">
              <a:buNone/>
            </a:pPr>
            <a:r>
              <a:rPr lang="en-US" altLang="en-US" sz="2500" b="1" dirty="0">
                <a:solidFill>
                  <a:schemeClr val="bg1"/>
                </a:solidFill>
                <a:latin typeface="Courier New Bold" panose="02070609020205020404" charset="0"/>
                <a:cs typeface="Courier New Bold" panose="02070609020205020404" charset="0"/>
                <a:sym typeface="+mn-ea"/>
              </a:rPr>
              <a:t>[10:00:45] CRITICAL - mat ket noi may chu trung tam</a:t>
            </a:r>
            <a:endParaRPr lang="en-US" altLang="en-US" sz="2500" b="1" dirty="0">
              <a:solidFill>
                <a:schemeClr val="bg1"/>
              </a:solidFill>
              <a:latin typeface="Courier New Bold" panose="02070609020205020404" charset="0"/>
              <a:cs typeface="Courier New Bold" panose="02070609020205020404" charset="0"/>
            </a:endParaRPr>
          </a:p>
          <a:p>
            <a:pPr marL="0" indent="0">
              <a:buNone/>
            </a:pPr>
            <a:r>
              <a:rPr lang="en-US" altLang="en-US" sz="2500" b="1" dirty="0">
                <a:solidFill>
                  <a:schemeClr val="bg1"/>
                </a:solidFill>
                <a:latin typeface="Courier New Bold" panose="02070609020205020404" charset="0"/>
                <a:cs typeface="Courier New Bold" panose="02070609020205020404" charset="0"/>
                <a:sym typeface="+mn-ea"/>
              </a:rPr>
              <a:t>[10:01:03] TIMEOUT - tram-cam-bien-58 qua thoi gian cho</a:t>
            </a:r>
            <a:endParaRPr lang="vi-VN" altLang="en-US" sz="2500" dirty="0"/>
          </a:p>
        </p:txBody>
      </p:sp>
      <p:sp>
        <p:nvSpPr>
          <p:cNvPr id="5" name="Slide Number Placeholder 0">
            <a:extLst>
              <a:ext uri="{FF2B5EF4-FFF2-40B4-BE49-F238E27FC236}">
                <a16:creationId xmlns:a16="http://schemas.microsoft.com/office/drawing/2014/main" id="{8B37E23A-7C5A-31CC-0F1E-A135D27FA1AD}"/>
              </a:ext>
            </a:extLst>
          </p:cNvPr>
          <p:cNvSpPr>
            <a:spLocks noGrp="1"/>
          </p:cNvSpPr>
          <p:nvPr/>
        </p:nvSpPr>
        <p:spPr>
          <a:xfrm>
            <a:off x="11247755" y="6300216"/>
            <a:ext cx="457200" cy="274320"/>
          </a:xfrm>
          <a:prstGeom prst="rect">
            <a:avLst/>
          </a:prstGeom>
        </p:spPr>
        <p:txBody>
          <a:bodyPr lIns="0" tIns="0" rIns="0" bIns="0"/>
          <a:lstStyle>
            <a:lvl1pPr marL="0" algn="l" defTabSz="914400" rtl="0" eaLnBrk="1" latinLnBrk="0" hangingPunct="1">
              <a:defRPr sz="11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b="0"/>
              <a:pPr algn="r"/>
              <a:t>9</a:t>
            </a:fld>
            <a:endParaRPr lang="en-US"/>
          </a:p>
        </p:txBody>
      </p:sp>
      <p:sp>
        <p:nvSpPr>
          <p:cNvPr id="6" name="Chip lệnh">
            <a:extLst>
              <a:ext uri="{FF2B5EF4-FFF2-40B4-BE49-F238E27FC236}">
                <a16:creationId xmlns:a16="http://schemas.microsoft.com/office/drawing/2014/main" id="{F374D49A-889F-E4E1-E5A3-778B716D78C5}"/>
              </a:ext>
            </a:extLst>
          </p:cNvPr>
          <p:cNvSpPr/>
          <p:nvPr/>
        </p:nvSpPr>
        <p:spPr>
          <a:xfrm>
            <a:off x="487045" y="6205474"/>
            <a:ext cx="2571115" cy="368300"/>
          </a:xfrm>
          <a:prstGeom prst="roundRect">
            <a:avLst>
              <a:gd name="adj" fmla="val 14286"/>
            </a:avLst>
          </a:prstGeom>
          <a:solidFill>
            <a:schemeClr val="tx2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DFF7EE37-A933-EC59-58D0-99F5A8564988}"/>
              </a:ext>
            </a:extLst>
          </p:cNvPr>
          <p:cNvSpPr txBox="1"/>
          <p:nvPr/>
        </p:nvSpPr>
        <p:spPr>
          <a:xfrm>
            <a:off x="802005" y="6206109"/>
            <a:ext cx="20097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+mj-lt"/>
                <a:ea typeface="+mj-lt"/>
                <a:cs typeface="+mj-lt"/>
                <a:sym typeface="+mn-ea"/>
                <a:hlinkClick r:id="rId2" action="ppaction://hlinkfile"/>
              </a:rPr>
              <a:t>bao-cao-su-co.txt</a:t>
            </a:r>
            <a:endParaRPr lang="vi-VN" altLang="en-US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+mj-lt"/>
              <a:ea typeface="+mj-lt"/>
              <a:cs typeface="+mj-lt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63600749"/>
      </p:ext>
    </p:extLst>
  </p:cSld>
  <p:clrMapOvr>
    <a:masterClrMapping/>
  </p:clrMapOvr>
  <p:transition spd="slow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700" b="1">
                <a:solidFill>
                  <a:srgbClr val="12273A"/>
                </a:solidFill>
                <a:latin typeface="Aptos"/>
              </a:rPr>
              <a:t>6. Audit &amp; kiểm soát rủi ro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AN TOÀN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0">
                <a:solidFill>
                  <a:srgbClr val="2F3E46"/>
                </a:solidFill>
                <a:latin typeface="Aptos"/>
              </a:rPr>
              <a:t>Trước khi chạy script, thực hiện checklist thẩm định (Audit):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828800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11095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1945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Đường dẫn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73152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400" b="0">
                <a:solidFill>
                  <a:srgbClr val="2F3E46"/>
                </a:solidFill>
                <a:latin typeface="Aptos"/>
              </a:rPr>
              <a:t>Xác nhận đúng thư mục dự án và file log nguồn.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578608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660903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78608"/>
            <a:ext cx="21945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Kiểm tra đầu vào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78608"/>
            <a:ext cx="73152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400" b="0">
                <a:solidFill>
                  <a:srgbClr val="2F3E46"/>
                </a:solidFill>
                <a:latin typeface="Aptos"/>
              </a:rPr>
              <a:t>Dùng if not exist để dừng nếu thiếu log.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28415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410711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28415"/>
            <a:ext cx="21945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Phạm vi tác động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28415"/>
            <a:ext cx="73152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400" b="0">
                <a:solidFill>
                  <a:srgbClr val="2F3E46"/>
                </a:solidFill>
                <a:latin typeface="Aptos"/>
              </a:rPr>
              <a:t>Chỉ ghi vào backup/; không xóa dữ liệu nguồn.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078224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78224"/>
            <a:ext cx="21945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Bảo vệ bí mật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078224"/>
            <a:ext cx="73152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400" b="0">
                <a:solidFill>
                  <a:srgbClr val="2F3E46"/>
                </a:solidFill>
                <a:latin typeface="Aptos"/>
              </a:rPr>
              <a:t>Không commit .env hoặc thông tin xác thực.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828031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910327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28031"/>
            <a:ext cx="21945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Kiểm thử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828031"/>
            <a:ext cx="73152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400" b="0">
                <a:solidFill>
                  <a:srgbClr val="2F3E46"/>
                </a:solidFill>
                <a:latin typeface="Aptos"/>
              </a:rPr>
              <a:t>Chạy thử với log mẫu trước khi dùng log 500 MB.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97880"/>
            <a:ext cx="102412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>
                <a:solidFill>
                  <a:srgbClr val="C0392B"/>
                </a:solidFill>
                <a:latin typeface="Aptos"/>
              </a:rPr>
              <a:t>Không chạy del /f /s /q nếu chưa xác minh chính xác đường dẫn và phạm vi xóa.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800" b="0">
                <a:solidFill>
                  <a:srgbClr val="66757E"/>
                </a:solidFill>
                <a:latin typeface="Aptos"/>
              </a:rPr>
              <a:t>GREENTECH  |  MINI PROJECT HẠ TẦNG &amp; NHẬT KÝ KỸ THUẬT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700" b="1">
                <a:solidFill>
                  <a:srgbClr val="12273A"/>
                </a:solidFill>
                <a:latin typeface="Aptos"/>
              </a:rPr>
              <a:t>7. Module tài liệu: Markdown &amp; Word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MODULE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566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7548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800" b="1">
                <a:solidFill>
                  <a:srgbClr val="12273A"/>
                </a:solidFill>
                <a:latin typeface="Aptos"/>
              </a:rPr>
              <a:t>README.md — tài liệu nhanh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4754879" cy="28346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0">
                <a:solidFill>
                  <a:srgbClr val="2F3E46"/>
                </a:solidFill>
                <a:latin typeface="Aptos"/>
              </a:rPr>
              <a:t>• H1: tên hệ thống
• Hướng dẫn chạy script trong code block
• Checklist thiết bị bằng task list
• Bảng thông số phần cứng
• Ghi rõ yêu cầu, đầu vào và đầu 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35661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581912"/>
            <a:ext cx="47548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800" b="1" dirty="0">
                <a:solidFill>
                  <a:srgbClr val="12273A"/>
                </a:solidFill>
                <a:latin typeface="Aptos"/>
              </a:rPr>
              <a:t>SRS — </a:t>
            </a:r>
            <a:r>
              <a:rPr sz="1800" b="1" dirty="0" err="1">
                <a:solidFill>
                  <a:srgbClr val="12273A"/>
                </a:solidFill>
                <a:latin typeface="Aptos"/>
              </a:rPr>
              <a:t>đặc</a:t>
            </a:r>
            <a:r>
              <a:rPr sz="1800" b="1" dirty="0">
                <a:solidFill>
                  <a:srgbClr val="12273A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2273A"/>
                </a:solidFill>
                <a:latin typeface="Aptos"/>
              </a:rPr>
              <a:t>tả</a:t>
            </a:r>
            <a:r>
              <a:rPr sz="1800" b="1" dirty="0">
                <a:solidFill>
                  <a:srgbClr val="12273A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2273A"/>
                </a:solidFill>
                <a:latin typeface="Aptos"/>
              </a:rPr>
              <a:t>yêu</a:t>
            </a:r>
            <a:r>
              <a:rPr sz="1800" b="1" dirty="0">
                <a:solidFill>
                  <a:srgbClr val="12273A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2273A"/>
                </a:solidFill>
                <a:latin typeface="Aptos"/>
              </a:rPr>
              <a:t>cầu</a:t>
            </a:r>
            <a:endParaRPr sz="1800" b="1" dirty="0">
              <a:solidFill>
                <a:srgbClr val="12273A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9088" y="2011680"/>
            <a:ext cx="4754879" cy="28346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0" dirty="0">
                <a:solidFill>
                  <a:srgbClr val="2F3E46"/>
                </a:solidFill>
                <a:latin typeface="Aptos"/>
              </a:rPr>
              <a:t>• Trang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đầu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tiêu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đề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phiên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bản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ngày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cập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nhật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
• Heading 1: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chương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chính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
• Heading 2: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nhóm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chức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năng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
• Heading 3: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yêu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cầu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 chi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tiết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
• References → Table of Contents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để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chèn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mục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lục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tự</a:t>
            </a:r>
            <a:r>
              <a:rPr sz="1600" b="0" dirty="0">
                <a:solidFill>
                  <a:srgbClr val="2F3E46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2F3E46"/>
                </a:solidFill>
                <a:latin typeface="Aptos"/>
              </a:rPr>
              <a:t>động</a:t>
            </a:r>
            <a:endParaRPr sz="1600" b="0" dirty="0">
              <a:solidFill>
                <a:srgbClr val="2F3E46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700" b="1">
                <a:solidFill>
                  <a:srgbClr val="12273A"/>
                </a:solidFill>
                <a:latin typeface="Aptos"/>
              </a:rPr>
              <a:t>Nguyên tắc: nội dung rõ ràng, tiêu đề nhất quán, dễ cập nhật và bàn giao.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800" b="0">
                <a:solidFill>
                  <a:srgbClr val="66757E"/>
                </a:solidFill>
                <a:latin typeface="Aptos"/>
              </a:rPr>
              <a:t>GREENTECH  |  MINI PROJECT HẠ TẦNG &amp; NHẬT KÝ KỸ THUẬT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08</a:t>
            </a:r>
          </a:p>
        </p:txBody>
      </p:sp>
      <p:sp>
        <p:nvSpPr>
          <p:cNvPr id="16" name="Arrow: Right 15">
            <a:hlinkClick r:id="rId2" action="ppaction://hlinksldjump"/>
            <a:extLst>
              <a:ext uri="{FF2B5EF4-FFF2-40B4-BE49-F238E27FC236}">
                <a16:creationId xmlns:a16="http://schemas.microsoft.com/office/drawing/2014/main" id="{3F2322FC-DD02-C4D8-4DCA-B3DA6965C5A2}"/>
              </a:ext>
            </a:extLst>
          </p:cNvPr>
          <p:cNvSpPr/>
          <p:nvPr/>
        </p:nvSpPr>
        <p:spPr>
          <a:xfrm>
            <a:off x="4758813" y="4395019"/>
            <a:ext cx="570271" cy="22614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hlinkClick r:id="rId3" action="ppaction://hlinksldjump"/>
            <a:extLst>
              <a:ext uri="{FF2B5EF4-FFF2-40B4-BE49-F238E27FC236}">
                <a16:creationId xmlns:a16="http://schemas.microsoft.com/office/drawing/2014/main" id="{3490A1CF-D231-D9D3-5218-BCF81481074F}"/>
              </a:ext>
            </a:extLst>
          </p:cNvPr>
          <p:cNvSpPr/>
          <p:nvPr/>
        </p:nvSpPr>
        <p:spPr>
          <a:xfrm>
            <a:off x="10276184" y="4395019"/>
            <a:ext cx="570271" cy="22614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Ảnh chụp màn hình 2026-10-27 002728">
            <a:extLst>
              <a:ext uri="{FF2B5EF4-FFF2-40B4-BE49-F238E27FC236}">
                <a16:creationId xmlns:a16="http://schemas.microsoft.com/office/drawing/2014/main" id="{A5F2DA18-C0CE-F0FE-C474-5E5AA807E0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14" t="203" r="-1776" b="-60"/>
          <a:stretch>
            <a:fillRect/>
          </a:stretch>
        </p:blipFill>
        <p:spPr>
          <a:xfrm>
            <a:off x="1488122" y="1445577"/>
            <a:ext cx="9628505" cy="50044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F11FFA7-46A2-2BAB-77C6-7A222833C1EA}"/>
              </a:ext>
            </a:extLst>
          </p:cNvPr>
          <p:cNvSpPr/>
          <p:nvPr/>
        </p:nvSpPr>
        <p:spPr>
          <a:xfrm>
            <a:off x="932497" y="407987"/>
            <a:ext cx="10327005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vi-VN" altLang="en-US" sz="4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Nội dung Markdown</a:t>
            </a:r>
          </a:p>
        </p:txBody>
      </p:sp>
      <p:sp>
        <p:nvSpPr>
          <p:cNvPr id="4" name="Arrow: Right 3">
            <a:hlinkClick r:id="rId3" action="ppaction://hlinksldjump"/>
            <a:extLst>
              <a:ext uri="{FF2B5EF4-FFF2-40B4-BE49-F238E27FC236}">
                <a16:creationId xmlns:a16="http://schemas.microsoft.com/office/drawing/2014/main" id="{DD3D9F8D-A6D2-205A-18DB-09B3308E4C8E}"/>
              </a:ext>
            </a:extLst>
          </p:cNvPr>
          <p:cNvSpPr/>
          <p:nvPr/>
        </p:nvSpPr>
        <p:spPr>
          <a:xfrm rot="10800000">
            <a:off x="10058400" y="6096000"/>
            <a:ext cx="432619" cy="20647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457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FF395C-ED3F-612A-6D73-EAB4FA923649}"/>
              </a:ext>
            </a:extLst>
          </p:cNvPr>
          <p:cNvSpPr/>
          <p:nvPr/>
        </p:nvSpPr>
        <p:spPr>
          <a:xfrm>
            <a:off x="4454525" y="368300"/>
            <a:ext cx="373888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vi-VN" altLang="en-US" sz="4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Nội dung word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782A015A-3FED-C71B-D685-31FA74CAABE4}"/>
              </a:ext>
            </a:extLst>
          </p:cNvPr>
          <p:cNvSpPr txBox="1"/>
          <p:nvPr/>
        </p:nvSpPr>
        <p:spPr>
          <a:xfrm>
            <a:off x="5332730" y="2971165"/>
            <a:ext cx="63131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Cách gán Style: </a:t>
            </a:r>
          </a:p>
          <a:p>
            <a:pPr algn="l"/>
            <a:r>
              <a:rPr lang="en-US" altLang="en-US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Bôi đen tiêu đề </a:t>
            </a:r>
          </a:p>
          <a:p>
            <a:pPr algn="l"/>
            <a:r>
              <a:rPr lang="en-US" altLang="en-US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→ vào Home </a:t>
            </a:r>
          </a:p>
          <a:p>
            <a:pPr algn="l"/>
            <a:r>
              <a:rPr lang="en-US" altLang="en-US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→ Styles</a:t>
            </a:r>
          </a:p>
          <a:p>
            <a:pPr algn="l"/>
            <a:r>
              <a:rPr lang="en-US" altLang="en-US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→ chọn Heading 1, Heading 2 hoặc Heading 3 phù hợp.</a:t>
            </a:r>
            <a:endParaRPr lang="en-US" altLang="en-US" b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9A53177F-1CDA-084F-834A-B2C15D456863}"/>
              </a:ext>
            </a:extLst>
          </p:cNvPr>
          <p:cNvSpPr txBox="1"/>
          <p:nvPr/>
        </p:nvSpPr>
        <p:spPr>
          <a:xfrm>
            <a:off x="3385820" y="1075055"/>
            <a:ext cx="6015355" cy="4864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6700">
              <a:lnSpc>
                <a:spcPct val="107000"/>
              </a:lnSpc>
              <a:spcAft>
                <a:spcPts val="800"/>
              </a:spcAft>
            </a:pPr>
            <a:r>
              <a:rPr sz="2400" b="1">
                <a:latin typeface="Times New Roman" panose="02020603050405020304"/>
                <a:ea typeface="Calibri" panose="020F0502020204030204"/>
              </a:rPr>
              <a:t>1. Tạo các tiêu đề bằng Heading Styles</a:t>
            </a: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F4EEE358-1594-65B8-2FEA-3FC19B4FF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1413510"/>
            <a:ext cx="4090035" cy="3698240"/>
          </a:xfrm>
          <a:prstGeom prst="rect">
            <a:avLst/>
          </a:prstGeom>
        </p:spPr>
      </p:pic>
      <p:pic>
        <p:nvPicPr>
          <p:cNvPr id="6" name="Picture 5" descr="Ảnh chụp màn hình 2026-10-27 005052">
            <a:extLst>
              <a:ext uri="{FF2B5EF4-FFF2-40B4-BE49-F238E27FC236}">
                <a16:creationId xmlns:a16="http://schemas.microsoft.com/office/drawing/2014/main" id="{4E343DAF-53F4-51B4-B499-DDA2B3BC49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15" r="876"/>
          <a:stretch>
            <a:fillRect/>
          </a:stretch>
        </p:blipFill>
        <p:spPr>
          <a:xfrm>
            <a:off x="546100" y="1722755"/>
            <a:ext cx="4309110" cy="476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2276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A3768C80-3722-8045-F303-061E1BF2F517}"/>
              </a:ext>
            </a:extLst>
          </p:cNvPr>
          <p:cNvSpPr txBox="1"/>
          <p:nvPr/>
        </p:nvSpPr>
        <p:spPr>
          <a:xfrm>
            <a:off x="2380297" y="454342"/>
            <a:ext cx="8021320" cy="4608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6700">
              <a:lnSpc>
                <a:spcPct val="107000"/>
              </a:lnSpc>
              <a:spcAft>
                <a:spcPts val="800"/>
              </a:spcAft>
            </a:pPr>
            <a:r>
              <a:rPr sz="2400" b="1" dirty="0" err="1">
                <a:latin typeface="Times New Roman" panose="02020603050405020304"/>
                <a:ea typeface="Calibri" panose="020F0502020204030204"/>
              </a:rPr>
              <a:t>Chèn</a:t>
            </a:r>
            <a:r>
              <a:rPr sz="2400" b="1" dirty="0">
                <a:latin typeface="Times New Roman" panose="02020603050405020304"/>
                <a:ea typeface="Calibri" panose="020F0502020204030204"/>
              </a:rPr>
              <a:t> Auto TOC ở </a:t>
            </a:r>
            <a:r>
              <a:rPr sz="2400" b="1" dirty="0" err="1">
                <a:latin typeface="Times New Roman" panose="02020603050405020304"/>
                <a:ea typeface="Calibri" panose="020F0502020204030204"/>
              </a:rPr>
              <a:t>trang</a:t>
            </a:r>
            <a:r>
              <a:rPr sz="2400" b="1" dirty="0">
                <a:latin typeface="Times New Roman" panose="02020603050405020304"/>
                <a:ea typeface="Calibri" panose="020F0502020204030204"/>
              </a:rPr>
              <a:t> </a:t>
            </a:r>
            <a:r>
              <a:rPr sz="2400" b="1" dirty="0" err="1">
                <a:latin typeface="Times New Roman" panose="02020603050405020304"/>
                <a:ea typeface="Calibri" panose="020F0502020204030204"/>
              </a:rPr>
              <a:t>đầu</a:t>
            </a:r>
            <a:r>
              <a:rPr sz="2400" b="1" dirty="0">
                <a:latin typeface="Times New Roman" panose="02020603050405020304"/>
                <a:ea typeface="Calibri" panose="020F0502020204030204"/>
              </a:rPr>
              <a:t> </a:t>
            </a:r>
            <a:r>
              <a:rPr sz="2400" b="1" dirty="0" err="1">
                <a:latin typeface="Times New Roman" panose="02020603050405020304"/>
                <a:ea typeface="Calibri" panose="020F0502020204030204"/>
              </a:rPr>
              <a:t>tiên</a:t>
            </a:r>
            <a:endParaRPr sz="2400" b="1" dirty="0">
              <a:latin typeface="Times New Roman" panose="02020603050405020304"/>
              <a:ea typeface="Calibri" panose="020F0502020204030204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0FABE1EE-6E94-976A-9990-76065FC5A940}"/>
              </a:ext>
            </a:extLst>
          </p:cNvPr>
          <p:cNvSpPr txBox="1"/>
          <p:nvPr/>
        </p:nvSpPr>
        <p:spPr>
          <a:xfrm>
            <a:off x="395287" y="1347787"/>
            <a:ext cx="5080000" cy="420370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6700">
              <a:lnSpc>
                <a:spcPct val="107000"/>
              </a:lnSpc>
              <a:spcAft>
                <a:spcPts val="800"/>
              </a:spcAft>
            </a:pPr>
            <a:r>
              <a:rPr sz="2000">
                <a:latin typeface="Times New Roman" panose="02020603050405020304"/>
                <a:ea typeface="Calibri" panose="020F0502020204030204"/>
              </a:rPr>
              <a:t>Bước 1. Tạo trang mục lục</a:t>
            </a:r>
            <a:r>
              <a:rPr lang="vi-VN" sz="2000">
                <a:latin typeface="Times New Roman" panose="02020603050405020304"/>
                <a:ea typeface="Calibri" panose="020F0502020204030204"/>
              </a:rPr>
              <a:t>, gõ tiêu đề mục lục</a:t>
            </a:r>
          </a:p>
        </p:txBody>
      </p:sp>
      <p:pic>
        <p:nvPicPr>
          <p:cNvPr id="4" name="Picture 3" descr="2026 | How to Edit Table of Contents in Word Easily - EaseUS">
            <a:extLst>
              <a:ext uri="{FF2B5EF4-FFF2-40B4-BE49-F238E27FC236}">
                <a16:creationId xmlns:a16="http://schemas.microsoft.com/office/drawing/2014/main" id="{0A162FB4-5BB8-F9B9-D9A9-CFDFE83FA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362" y="1886902"/>
            <a:ext cx="5202555" cy="45167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3">
            <a:extLst>
              <a:ext uri="{FF2B5EF4-FFF2-40B4-BE49-F238E27FC236}">
                <a16:creationId xmlns:a16="http://schemas.microsoft.com/office/drawing/2014/main" id="{65ED87E7-0D48-4EC3-8178-67C86DC48245}"/>
              </a:ext>
            </a:extLst>
          </p:cNvPr>
          <p:cNvSpPr txBox="1"/>
          <p:nvPr/>
        </p:nvSpPr>
        <p:spPr>
          <a:xfrm>
            <a:off x="6422072" y="1347787"/>
            <a:ext cx="5080000" cy="420370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6700">
              <a:lnSpc>
                <a:spcPct val="107000"/>
              </a:lnSpc>
              <a:spcAft>
                <a:spcPts val="800"/>
              </a:spcAft>
            </a:pPr>
            <a:r>
              <a:rPr sz="2000">
                <a:latin typeface="Times New Roman" panose="02020603050405020304"/>
                <a:ea typeface="Calibri" panose="020F0502020204030204"/>
              </a:rPr>
              <a:t>Bước </a:t>
            </a:r>
            <a:r>
              <a:rPr lang="vi-VN" sz="2000">
                <a:latin typeface="Times New Roman" panose="02020603050405020304"/>
                <a:ea typeface="Calibri" panose="020F0502020204030204"/>
              </a:rPr>
              <a:t>2</a:t>
            </a:r>
            <a:r>
              <a:rPr sz="2000">
                <a:latin typeface="Times New Roman" panose="02020603050405020304"/>
                <a:ea typeface="Calibri" panose="020F0502020204030204"/>
              </a:rPr>
              <a:t>. Cập nhật mục lục</a:t>
            </a:r>
          </a:p>
        </p:txBody>
      </p:sp>
      <p:pic>
        <p:nvPicPr>
          <p:cNvPr id="6" name="Picture 5" descr="Bot Verification">
            <a:extLst>
              <a:ext uri="{FF2B5EF4-FFF2-40B4-BE49-F238E27FC236}">
                <a16:creationId xmlns:a16="http://schemas.microsoft.com/office/drawing/2014/main" id="{AC4F1AD0-B732-2AAF-E0CB-21A33D3A6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26797" y="1886902"/>
            <a:ext cx="5669915" cy="4483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01199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FBABA599-E850-D0E5-716E-B27790159FC8}"/>
              </a:ext>
            </a:extLst>
          </p:cNvPr>
          <p:cNvSpPr txBox="1"/>
          <p:nvPr/>
        </p:nvSpPr>
        <p:spPr>
          <a:xfrm>
            <a:off x="2603817" y="2238216"/>
            <a:ext cx="6984365" cy="327787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66700">
              <a:lnSpc>
                <a:spcPct val="107000"/>
              </a:lnSpc>
              <a:spcAft>
                <a:spcPts val="800"/>
              </a:spcAft>
            </a:pPr>
            <a:r>
              <a:rPr sz="1600" b="1">
                <a:latin typeface="Times New Roman" panose="02020603050405020304"/>
                <a:ea typeface="Calibri" panose="020F0502020204030204"/>
              </a:rPr>
              <a:t> Cấu trúc SRS hoàn chỉnh</a:t>
            </a:r>
          </a:p>
          <a:p>
            <a:pPr marL="914400" indent="-228600" defTabSz="266700">
              <a:lnSpc>
                <a:spcPct val="107000"/>
              </a:lnSpc>
              <a:spcAft>
                <a:spcPts val="800"/>
              </a:spcAft>
              <a:buFont typeface="Times New Roman" panose="02020603050405020304"/>
              <a:buAutoNum type="arabicPeriod"/>
              <a:tabLst>
                <a:tab pos="457200" algn="l"/>
              </a:tabLst>
            </a:pPr>
            <a:r>
              <a:rPr sz="1600">
                <a:latin typeface="Times New Roman" panose="02020603050405020304"/>
                <a:ea typeface="Calibri" panose="020F0502020204030204"/>
              </a:rPr>
              <a:t>Trang bìa: tên dự án, môn học, sinh viên.</a:t>
            </a:r>
          </a:p>
          <a:p>
            <a:pPr marL="914400" indent="-228600" defTabSz="266700">
              <a:lnSpc>
                <a:spcPct val="107000"/>
              </a:lnSpc>
              <a:spcAft>
                <a:spcPts val="800"/>
              </a:spcAft>
              <a:buFont typeface="Times New Roman" panose="02020603050405020304"/>
              <a:buAutoNum type="arabicPeriod"/>
              <a:tabLst>
                <a:tab pos="457200" algn="l"/>
              </a:tabLst>
            </a:pPr>
            <a:r>
              <a:rPr sz="1600">
                <a:latin typeface="Times New Roman" panose="02020603050405020304"/>
                <a:ea typeface="Calibri" panose="020F0502020204030204"/>
              </a:rPr>
              <a:t>Trang mục lục tự động.</a:t>
            </a:r>
          </a:p>
          <a:p>
            <a:pPr marL="914400" indent="-228600" defTabSz="266700">
              <a:lnSpc>
                <a:spcPct val="107000"/>
              </a:lnSpc>
              <a:spcAft>
                <a:spcPts val="800"/>
              </a:spcAft>
              <a:buFont typeface="Times New Roman" panose="02020603050405020304"/>
              <a:buAutoNum type="arabicPeriod"/>
              <a:tabLst>
                <a:tab pos="457200" algn="l"/>
              </a:tabLst>
            </a:pPr>
            <a:r>
              <a:rPr sz="1600">
                <a:latin typeface="Times New Roman" panose="02020603050405020304"/>
                <a:ea typeface="Calibri" panose="020F0502020204030204"/>
              </a:rPr>
              <a:t>Giới thiệu và phạm vi hệ thống.</a:t>
            </a:r>
          </a:p>
          <a:p>
            <a:pPr marL="914400" indent="-228600" defTabSz="266700">
              <a:lnSpc>
                <a:spcPct val="107000"/>
              </a:lnSpc>
              <a:spcAft>
                <a:spcPts val="800"/>
              </a:spcAft>
              <a:buFont typeface="Times New Roman" panose="02020603050405020304"/>
              <a:buAutoNum type="arabicPeriod"/>
              <a:tabLst>
                <a:tab pos="457200" algn="l"/>
              </a:tabLst>
            </a:pPr>
            <a:r>
              <a:rPr sz="1600">
                <a:latin typeface="Times New Roman" panose="02020603050405020304"/>
                <a:ea typeface="Calibri" panose="020F0502020204030204"/>
              </a:rPr>
              <a:t>Phân tích IPO và DIKW.</a:t>
            </a:r>
          </a:p>
          <a:p>
            <a:pPr marL="914400" indent="-228600" defTabSz="266700">
              <a:lnSpc>
                <a:spcPct val="107000"/>
              </a:lnSpc>
              <a:spcAft>
                <a:spcPts val="800"/>
              </a:spcAft>
              <a:buFont typeface="Times New Roman" panose="02020603050405020304"/>
              <a:buAutoNum type="arabicPeriod"/>
              <a:tabLst>
                <a:tab pos="457200" algn="l"/>
              </a:tabLst>
            </a:pPr>
            <a:r>
              <a:rPr sz="1600">
                <a:latin typeface="Times New Roman" panose="02020603050405020304"/>
                <a:ea typeface="Calibri" panose="020F0502020204030204"/>
              </a:rPr>
              <a:t>Yêu cầu chức năng và phi chức năng.</a:t>
            </a:r>
          </a:p>
          <a:p>
            <a:pPr marL="914400" indent="-228600" defTabSz="266700">
              <a:lnSpc>
                <a:spcPct val="107000"/>
              </a:lnSpc>
              <a:spcAft>
                <a:spcPts val="800"/>
              </a:spcAft>
              <a:buFont typeface="Times New Roman" panose="02020603050405020304"/>
              <a:buAutoNum type="arabicPeriod"/>
              <a:tabLst>
                <a:tab pos="457200" algn="l"/>
              </a:tabLst>
            </a:pPr>
            <a:r>
              <a:rPr sz="1600">
                <a:latin typeface="Times New Roman" panose="02020603050405020304"/>
                <a:ea typeface="Calibri" panose="020F0502020204030204"/>
              </a:rPr>
              <a:t>Thiết kế cây thư mục và dữ liệu.</a:t>
            </a:r>
          </a:p>
          <a:p>
            <a:pPr marL="914400" indent="-228600" defTabSz="266700">
              <a:lnSpc>
                <a:spcPct val="107000"/>
              </a:lnSpc>
              <a:spcAft>
                <a:spcPts val="800"/>
              </a:spcAft>
              <a:buFont typeface="Times New Roman" panose="02020603050405020304"/>
              <a:buAutoNum type="arabicPeriod"/>
              <a:tabLst>
                <a:tab pos="457200" algn="l"/>
              </a:tabLst>
            </a:pPr>
            <a:r>
              <a:rPr sz="1600">
                <a:latin typeface="Times New Roman" panose="02020603050405020304"/>
                <a:ea typeface="Calibri" panose="020F0502020204030204"/>
              </a:rPr>
              <a:t>Quy trình lọc Log và quản lý thiết bị.</a:t>
            </a:r>
          </a:p>
          <a:p>
            <a:pPr marL="914400" indent="-228600" defTabSz="266700">
              <a:lnSpc>
                <a:spcPct val="107000"/>
              </a:lnSpc>
              <a:spcAft>
                <a:spcPts val="800"/>
              </a:spcAft>
              <a:buFont typeface="Times New Roman" panose="02020603050405020304"/>
              <a:buAutoNum type="arabicPeriod"/>
              <a:tabLst>
                <a:tab pos="457200" algn="l"/>
              </a:tabLst>
            </a:pPr>
            <a:r>
              <a:rPr sz="1600">
                <a:latin typeface="Times New Roman" panose="02020603050405020304"/>
                <a:ea typeface="Calibri" panose="020F0502020204030204"/>
              </a:rPr>
              <a:t>Kiểm thử, Audit và bảo mật.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EE357C84-119D-638E-EF8F-0C367D7D0C0C}"/>
              </a:ext>
            </a:extLst>
          </p:cNvPr>
          <p:cNvSpPr txBox="1"/>
          <p:nvPr/>
        </p:nvSpPr>
        <p:spPr>
          <a:xfrm>
            <a:off x="3556317" y="1341914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66700"/>
            <a:r>
              <a:rPr sz="2400" b="1">
                <a:latin typeface="Times New Roman" panose="02020603050405020304"/>
                <a:ea typeface="Calibri" panose="020F0502020204030204"/>
              </a:rPr>
              <a:t>3. Cấu trúc SRS hoàn chỉnh</a:t>
            </a:r>
          </a:p>
        </p:txBody>
      </p:sp>
    </p:spTree>
    <p:extLst>
      <p:ext uri="{BB962C8B-B14F-4D97-AF65-F5344CB8AC3E}">
        <p14:creationId xmlns:p14="http://schemas.microsoft.com/office/powerpoint/2010/main" val="206602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700" b="1">
                <a:solidFill>
                  <a:srgbClr val="12273A"/>
                </a:solidFill>
                <a:latin typeface="Aptos"/>
              </a:rPr>
              <a:t>8. Module Excel: Asset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2273A"/>
                </a:solidFill>
                <a:latin typeface="Aptos"/>
              </a:rPr>
              <a:t>Thiết kế theo Field/Record — mỗi dòng là một bản ghi, mỗi cột là một trường.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846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27AE60"/>
                </a:solidFill>
                <a:latin typeface="Aptos"/>
              </a:rPr>
              <a:t>Sheet: danh-muc-linh-kien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000364"/>
              </p:ext>
            </p:extLst>
          </p:nvPr>
        </p:nvGraphicFramePr>
        <p:xfrm>
          <a:off x="731520" y="2148840"/>
          <a:ext cx="54864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ma_linh_kien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ten_thiet_bi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don_gia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loai_storage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rPr dirty="0"/>
                        <a:t>SSD001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rPr dirty="0"/>
                        <a:t>SSD 512GB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1.200.000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SSD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rPr dirty="0"/>
                        <a:t>HDD002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HDD 1TB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900.000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rPr dirty="0"/>
                        <a:t>HDD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1783080"/>
            <a:ext cx="4754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3498DB"/>
                </a:solidFill>
                <a:latin typeface="Aptos"/>
              </a:rPr>
              <a:t>Sheet: trang-thai-tram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2148840"/>
          <a:ext cx="50749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ma_tram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ma_linh_kien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dung_luong_ram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ngay_lap_dat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TRAM001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SSD001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8GB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2026-09-10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TRAM002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HDD002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16GB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2026-09-12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3794760"/>
            <a:ext cx="10424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2F3E46"/>
                </a:solidFill>
                <a:latin typeface="Aptos"/>
              </a:rPr>
              <a:t>Ví dụ công thức tra cứu tên thiết bị (giả sử ma_linh_kien ở B2):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251960"/>
            <a:ext cx="10698480" cy="77724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4361688"/>
            <a:ext cx="10369296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BFEBD2"/>
                </a:solidFill>
                <a:latin typeface="Consolas"/>
              </a:defRPr>
            </a:pPr>
            <a:r>
              <a:t>=IFERROR(VLOOKUP(TRIM(B2),'danh-muc-linh-kien'!$A$2:$D$100,2,FALSE),"Không tìm thấy mã")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Aptos"/>
              </a:rPr>
              <a:t>Audit dữ liệu: không Merge Cell • không hàng trống trong vùng bảng • mã khóa chính không trùng • AutoFilter trên hàng tiêu đề.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800" b="0">
                <a:solidFill>
                  <a:srgbClr val="66757E"/>
                </a:solidFill>
                <a:latin typeface="Aptos"/>
              </a:rPr>
              <a:t>GREENTECH  |  MINI PROJECT HẠ TẦNG &amp; NHẬT KÝ KỸ THUẬT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700" b="1">
                <a:solidFill>
                  <a:srgbClr val="12273A"/>
                </a:solidFill>
                <a:latin typeface="Aptos"/>
              </a:rPr>
              <a:t>9. Tính toán dung lượng &amp; thời gian tải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BẪY DỮ LIỆU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7548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2273A"/>
                </a:solidFill>
                <a:latin typeface="Aptos"/>
              </a:rPr>
              <a:t>Quy đổi tốc độ mạng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4754879" cy="1097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0">
                <a:solidFill>
                  <a:srgbClr val="2F3E46"/>
                </a:solidFill>
                <a:latin typeface="Aptos"/>
              </a:rPr>
              <a:t>Mbps là megabit/giây; MB/s là megabyte/giây.
MB/s ≈ Mbps ÷ 8 (bỏ qua overhead).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581912"/>
            <a:ext cx="47548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2273A"/>
                </a:solidFill>
                <a:latin typeface="Aptos"/>
              </a:rPr>
              <a:t>Ví dụ tải log 500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11680"/>
            <a:ext cx="4754879" cy="1097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0">
                <a:solidFill>
                  <a:srgbClr val="2F3E46"/>
                </a:solidFill>
                <a:latin typeface="Aptos"/>
              </a:rPr>
              <a:t>Mạng 40 Mbps → khoảng 5 MB/s.
Thời gian lý tưởng ≈ 500 ÷ 5 = 100 giây.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49039"/>
            <a:ext cx="2743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Công thức tổng quát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06240"/>
            <a:ext cx="7498079" cy="77724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315968"/>
            <a:ext cx="716889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BFEBD2"/>
                </a:solidFill>
                <a:latin typeface="Consolas"/>
              </a:defRPr>
            </a:pPr>
            <a:r>
              <a:t>Thoi_gian_giay ≈ Dung_luong_MB / (Toc_do_Mbps / 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3327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400" b="0">
                <a:solidFill>
                  <a:srgbClr val="66757E"/>
                </a:solidFill>
                <a:latin typeface="Aptos"/>
              </a:rPr>
              <a:t>Thực tế có thể lâu hơn do overhead mạng, độ trễ, ổ đĩa và tải máy chủ.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800" b="0">
                <a:solidFill>
                  <a:srgbClr val="66757E"/>
                </a:solidFill>
                <a:latin typeface="Aptos"/>
              </a:rPr>
              <a:t>GREENTECH  |  MINI PROJECT HẠ TẦNG &amp; NHẬT KÝ KỸ THUẬT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700" b="1">
                <a:solidFill>
                  <a:srgbClr val="12273A"/>
                </a:solidFill>
                <a:latin typeface="Aptos"/>
              </a:rPr>
              <a:t>10. Quy trình triển khai &amp; kiểm thử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KẾ HOẠCH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3063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1. Khởi tạo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3063240" cy="7772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2F3E46"/>
                </a:solidFill>
                <a:latin typeface="Aptos"/>
              </a:rPr>
              <a:t>Tạo cây thư mục, tạo .env cục bộ.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1417320"/>
            <a:ext cx="73152" cy="1508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7448" y="1581912"/>
            <a:ext cx="3063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2. Chuẩn bị dữ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011680"/>
            <a:ext cx="3063240" cy="7772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2F3E46"/>
                </a:solidFill>
                <a:latin typeface="Aptos"/>
              </a:rPr>
              <a:t>Đặt log mẫu và bảng thiết bị đúng vị trí.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1417320"/>
            <a:ext cx="73152" cy="1508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2208" y="1581912"/>
            <a:ext cx="3063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3. Chạy thử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011680"/>
            <a:ext cx="3063240" cy="7772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2F3E46"/>
                </a:solidFill>
                <a:latin typeface="Aptos"/>
              </a:rPr>
              <a:t>Kiểm tra auto_report.bat trên log nhỏ.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429000"/>
            <a:ext cx="73152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593592"/>
            <a:ext cx="3063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4. Đối soát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023360"/>
            <a:ext cx="3063240" cy="7772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2F3E46"/>
                </a:solidFill>
                <a:latin typeface="Aptos"/>
              </a:rPr>
              <a:t>Thử mã hợp lệ, mã có khoảng trắng và mã không tồn tại.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26280" y="3429000"/>
            <a:ext cx="73152" cy="1508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27448" y="3593592"/>
            <a:ext cx="3063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5. Hoàn thiện tài liệu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4023360"/>
            <a:ext cx="3063240" cy="7772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2F3E46"/>
                </a:solidFill>
                <a:latin typeface="Aptos"/>
              </a:rPr>
              <a:t>Cập nhật README, SRS, mục lục tự động.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21040" y="3429000"/>
            <a:ext cx="73152" cy="1508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22208" y="3593592"/>
            <a:ext cx="3063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6. Đưa lên 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4023360"/>
            <a:ext cx="3063240" cy="77723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2F3E46"/>
                </a:solidFill>
                <a:latin typeface="Aptos"/>
              </a:rPr>
              <a:t>Commit mã nguồn; loại .env bằng .gitignore.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5349240"/>
            <a:ext cx="3108960" cy="68580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48471" y="5458968"/>
            <a:ext cx="2779776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FEBD2"/>
                </a:solidFill>
                <a:latin typeface="Consolas"/>
              </a:defRPr>
            </a:pPr>
            <a:r>
              <a:t>.env</a:t>
            </a:r>
          </a:p>
          <a:p>
            <a:pPr>
              <a:spcAft>
                <a:spcPts val="300"/>
              </a:spcAft>
              <a:defRPr sz="1100">
                <a:solidFill>
                  <a:srgbClr val="BFEBD2"/>
                </a:solidFill>
                <a:latin typeface="Consolas"/>
              </a:defRPr>
            </a:pPr>
            <a:r>
              <a:t>*.log</a:t>
            </a:r>
          </a:p>
          <a:p>
            <a:pPr>
              <a:spcAft>
                <a:spcPts val="300"/>
              </a:spcAft>
              <a:defRPr sz="1100">
                <a:solidFill>
                  <a:srgbClr val="BFEBD2"/>
                </a:solidFill>
                <a:latin typeface="Consolas"/>
              </a:defRPr>
            </a:pPr>
            <a:r>
              <a:t>backup/bao-cao-su-co.txt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7132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2F3E46"/>
                </a:solidFill>
                <a:latin typeface="Aptos"/>
              </a:rPr>
              <a:t>Ví dụ .gitignore: loại cấu hình nhạy cảm; chỉ commit dữ liệu mẫu không chứa thông tin thật.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800" b="0">
                <a:solidFill>
                  <a:srgbClr val="66757E"/>
                </a:solidFill>
                <a:latin typeface="Aptos"/>
              </a:rPr>
              <a:t>GREENTECH  |  MINI PROJECT HẠ TẦNG &amp; NHẬT KÝ KỸ THUẬT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700" b="1">
                <a:solidFill>
                  <a:srgbClr val="12273A"/>
                </a:solidFill>
                <a:latin typeface="Aptos"/>
              </a:rPr>
              <a:t>Dữ liệu thực tế từ file quan-ly-thiet-bi.xlsx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EXCEL THỰC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800" b="0">
                <a:solidFill>
                  <a:srgbClr val="66757E"/>
                </a:solidFill>
                <a:latin typeface="Aptos"/>
              </a:rPr>
              <a:t>GREENTECH  |  MINI PROJECT HẠ TẦNG &amp; NHẬT KÝ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07008"/>
            <a:ext cx="1051560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Workbook có 2 sheet, đúng mô hình danh mục linh kiện và trạng thái trạm.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0292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Aptos"/>
              </a:rPr>
              <a:t>Sheet: danh-muc-linh-kien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057400"/>
          <a:ext cx="56235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ma_linh_kien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ten_thiet_bi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don_gia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loai_storage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LK001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SSD 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850.000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SSD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LK002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HDD Seagate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600.000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HDD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LK003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SSD Kingston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750.000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SSD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720840" y="1965960"/>
            <a:ext cx="4617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20840" y="1965960"/>
            <a:ext cx="73152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22007" y="2112264"/>
            <a:ext cx="4251959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Khóa chính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96312"/>
            <a:ext cx="4251959" cy="47548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0">
                <a:solidFill>
                  <a:srgbClr val="2F3E46"/>
                </a:solidFill>
                <a:latin typeface="Aptos"/>
              </a:rPr>
              <a:t>ma_linh_kien: LK001, LK002, LK003
Mỗi mã đại diện một linh kiện.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337560"/>
            <a:ext cx="4617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20840" y="3337560"/>
            <a:ext cx="73152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22007" y="3483864"/>
            <a:ext cx="4251959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Khóa ngoại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7" y="3867911"/>
            <a:ext cx="4251959" cy="475487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0">
                <a:solidFill>
                  <a:srgbClr val="2F3E46"/>
                </a:solidFill>
                <a:latin typeface="Aptos"/>
              </a:rPr>
              <a:t>ma_linh_kien trong trang-thai-tram
liên kết đến danh mục linh kiện.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73152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400" b="1">
                <a:solidFill>
                  <a:srgbClr val="3498DB"/>
                </a:solidFill>
                <a:latin typeface="Aptos"/>
              </a:rPr>
              <a:t>Sheet: trang-thai-tram — 6 trạm cảm biến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4645152"/>
          <a:ext cx="1078992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941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ma_tram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ma_linh_kien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RAM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ngay_lap_dat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ten_thiet_bi</a:t>
                      </a:r>
                    </a:p>
                  </a:txBody>
                  <a:tcPr>
                    <a:solidFill>
                      <a:srgbClr val="1227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411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T001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LK001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20/10/2026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SSD 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411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T002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LK002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16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21/10/2026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HDD Seagate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411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T003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LK001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22/10/2026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SSD Samsung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411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T004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LK003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32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20/10/2026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SSD Kingston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411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T005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LK002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16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21/10/2026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HDD Seagate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41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T006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LK003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32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22/10/2026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F3E46"/>
                          </a:solidFill>
                          <a:latin typeface="Aptos"/>
                        </a:defRPr>
                      </a:pPr>
                      <a:r>
                        <a:t>SSD Kingston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2700" b="1">
                <a:solidFill>
                  <a:srgbClr val="12273A"/>
                </a:solidFill>
                <a:latin typeface="Aptos"/>
              </a:rPr>
              <a:t>Công thức VLOOKUP áp dụng cho workbook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EXCEL THỰC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68680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800" b="0">
                <a:solidFill>
                  <a:srgbClr val="66757E"/>
                </a:solidFill>
                <a:latin typeface="Aptos"/>
              </a:rPr>
              <a:t>GREENTECH  |  MINI PROJECT HẠ TẦNG &amp; NHẬT KÝ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/>
            <a:r>
              <a:rPr sz="1000" b="1">
                <a:solidFill>
                  <a:srgbClr val="27AE6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0704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700" b="1">
                <a:solidFill>
                  <a:srgbClr val="12273A"/>
                </a:solidFill>
                <a:latin typeface="Aptos"/>
              </a:rPr>
              <a:t>Trong sheet trang-thai-tram, cột E (ten_thiet_bi) tra cứu theo mã ở cột 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5720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2F3E46"/>
                </a:solidFill>
                <a:latin typeface="Aptos"/>
              </a:rPr>
              <a:t>Công thức khuyến nghị tại ô E2: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94560"/>
            <a:ext cx="10607040" cy="82296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304288"/>
            <a:ext cx="10277856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FEBD2"/>
                </a:solidFill>
                <a:latin typeface="Consolas"/>
              </a:defRPr>
            </a:pPr>
            <a:r>
              <a:t>=IFERROR(VLOOKUP(TRIM(B2),'danh-muc-linh-kien'!$A$2:$D$4,2,FALSE),"Không tìm thấy mã")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832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383280"/>
            <a:ext cx="73152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3529584"/>
            <a:ext cx="301752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TRIM(B2)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913632"/>
            <a:ext cx="3017520" cy="7955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300" b="0">
                <a:solidFill>
                  <a:srgbClr val="2F3E46"/>
                </a:solidFill>
                <a:latin typeface="Aptos"/>
              </a:rPr>
              <a:t>Loại bỏ khoảng trắng thừa trong mã linh kiện.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3832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3383280"/>
            <a:ext cx="73152" cy="14173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3529584"/>
            <a:ext cx="301752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$A$2:$D$4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913632"/>
            <a:ext cx="3017520" cy="7955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300" b="0">
                <a:solidFill>
                  <a:srgbClr val="2F3E46"/>
                </a:solidFill>
                <a:latin typeface="Aptos"/>
              </a:rPr>
              <a:t>Cố định vùng danh mục khi sao chép công thức xuống.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3832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01000" y="3383280"/>
            <a:ext cx="73152" cy="1417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02168" y="3529584"/>
            <a:ext cx="301752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600" b="1">
                <a:solidFill>
                  <a:srgbClr val="12273A"/>
                </a:solidFill>
                <a:latin typeface="Aptos"/>
              </a:rPr>
              <a:t>FALSE + IFERROR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3913632"/>
            <a:ext cx="3017520" cy="7955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0">
                <a:solidFill>
                  <a:srgbClr val="2F3E46"/>
                </a:solidFill>
                <a:latin typeface="Aptos"/>
              </a:rPr>
              <a:t>Tìm khớp chính xác; hiện thông báo dễ hiểu nếu không tìm thấy mã.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105156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500" b="1">
                <a:solidFill>
                  <a:srgbClr val="12273A"/>
                </a:solidFill>
                <a:latin typeface="Aptos"/>
              </a:rPr>
              <a:t>Kết quả kỳ vọng: T001/T003 → SSD Samsung; T002/T005 → HDD Seagate; T004/T006 → SSD Kingston.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Aptos"/>
              </a:rPr>
              <a:t>Kiểm tra trước khi nộp: kéo công thức đến E7, thử mã có khoảng trắng và mã không tồn tại; giữ hàng tiêu đề, không Merge Cell, không để hàng trống trong vùng dữ liệu.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27432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Aptos"/>
              </a:rP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7772400" cy="2011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Một hệ thống tốt cần
có cấu trúc, tự động hóa
và kiểm soát rủi 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45720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000" b="1">
                <a:solidFill>
                  <a:srgbClr val="BFEBD2"/>
                </a:solidFill>
                <a:latin typeface="Aptos"/>
              </a:rPr>
              <a:t>GreenTech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26280"/>
            <a:ext cx="960120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0">
                <a:solidFill>
                  <a:srgbClr val="DCE6EB"/>
                </a:solidFill>
                <a:latin typeface="Aptos"/>
              </a:rPr>
              <a:t>Tổ chức đúng dữ liệu  •  Lọc log an toàn  •  Đối soát chính xác  •  Tài liệu dễ bàn giao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27432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200" b="1">
                <a:solidFill>
                  <a:srgbClr val="27AE60"/>
                </a:solidFill>
                <a:latin typeface="Aptos"/>
              </a:rPr>
              <a:t>Cảm ơn!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2470</Words>
  <Application>Microsoft Office PowerPoint</Application>
  <PresentationFormat>Widescreen</PresentationFormat>
  <Paragraphs>346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</vt:lpstr>
      <vt:lpstr>Arial Regular</vt:lpstr>
      <vt:lpstr>Calibri</vt:lpstr>
      <vt:lpstr>Courier New</vt:lpstr>
      <vt:lpstr>Courier New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Hoa Hoàng</cp:lastModifiedBy>
  <cp:revision>4</cp:revision>
  <dcterms:created xsi:type="dcterms:W3CDTF">2013-01-27T09:14:16Z</dcterms:created>
  <dcterms:modified xsi:type="dcterms:W3CDTF">2026-10-27T05:49:56Z</dcterms:modified>
  <cp:category/>
</cp:coreProperties>
</file>